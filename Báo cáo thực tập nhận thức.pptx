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Relationship Id="rId3" Type="http://schemas.openxmlformats.org/officeDocument/2006/relationships/hyperlink" Target="https://www.storydoc.com/report-maker" TargetMode="Externa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Relationship Id="rId3" Type="http://schemas.openxmlformats.org/officeDocument/2006/relationships/hyperlink" Target="https://www.mdpi.com/2076-3417/14/13/5770" TargetMode="Externa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02518" y="1320476"/>
            <a:ext cx="10139306" cy="14212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866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CÁO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VỆ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TẬP</a:t>
            </a:r>
          </a:p>
          <a:p>
            <a:pPr marL="2842765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NHẬN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5050" b="1">
                <a:solidFill>
                  <a:srgbClr val="ffffff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19461" y="2977267"/>
            <a:ext cx="810551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1">
                <a:solidFill>
                  <a:srgbClr val="ffffff"/>
                </a:solidFill>
                <a:latin typeface="DejaVu Sans"/>
                <a:cs typeface="DejaVu Sans"/>
              </a:rPr>
              <a:t>Sinh</a:t>
            </a:r>
            <a:r>
              <a:rPr dirty="0" sz="3000" spc="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ffffff"/>
                </a:solidFill>
                <a:latin typeface="DejaVu Sans"/>
                <a:cs typeface="DejaVu Sans"/>
              </a:rPr>
              <a:t>viên: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-219">
                <a:solidFill>
                  <a:srgbClr val="ffffff"/>
                </a:solidFill>
                <a:latin typeface="DejaVu Sans"/>
                <a:cs typeface="DejaVu Sans"/>
              </a:rPr>
              <a:t>Võ</a:t>
            </a:r>
            <a:r>
              <a:rPr dirty="0" sz="3000" spc="24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Duy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1">
                <a:solidFill>
                  <a:srgbClr val="ffffff"/>
                </a:solidFill>
                <a:latin typeface="DejaVu Sans"/>
                <a:cs typeface="DejaVu Sans"/>
              </a:rPr>
              <a:t>Bình</a:t>
            </a:r>
            <a:r>
              <a:rPr dirty="0" sz="3000" spc="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–</a:t>
            </a:r>
            <a:r>
              <a:rPr dirty="0" sz="3000" spc="18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7">
                <a:solidFill>
                  <a:srgbClr val="ffffff"/>
                </a:solidFill>
                <a:latin typeface="DejaVu Sans"/>
                <a:cs typeface="DejaVu Sans"/>
              </a:rPr>
              <a:t>MSSV</a:t>
            </a:r>
            <a:r>
              <a:rPr dirty="0" sz="3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3000" spc="15">
                <a:solidFill>
                  <a:srgbClr val="ffffff"/>
                </a:solidFill>
                <a:latin typeface="DejaVu Sans"/>
                <a:cs typeface="DejaVu Sans"/>
              </a:rPr>
              <a:t>22301500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29482" y="3962870"/>
            <a:ext cx="7641880" cy="152676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56815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>
                <a:solidFill>
                  <a:srgbClr val="ffffff"/>
                </a:solidFill>
                <a:latin typeface="DejaVu Sans"/>
                <a:cs typeface="DejaVu Sans"/>
              </a:rPr>
              <a:t>Ngành:</a:t>
            </a:r>
            <a:r>
              <a:rPr dirty="0" sz="2000" spc="3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Kỹ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thuật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phần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1">
                <a:solidFill>
                  <a:srgbClr val="93c5fd"/>
                </a:solidFill>
                <a:latin typeface="DejaVu Sans"/>
                <a:cs typeface="DejaVu Sans"/>
              </a:rPr>
              <a:t>mềm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–</a:t>
            </a:r>
            <a:r>
              <a:rPr dirty="0" sz="2000" spc="12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Lớp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PM23111</a:t>
            </a:r>
          </a:p>
          <a:p>
            <a:pPr marL="0" marR="0">
              <a:lnSpc>
                <a:spcPts val="2346"/>
              </a:lnSpc>
              <a:spcBef>
                <a:spcPts val="2353"/>
              </a:spcBef>
              <a:spcAft>
                <a:spcPts val="0"/>
              </a:spcAft>
            </a:pPr>
            <a:r>
              <a:rPr dirty="0" sz="2000" spc="10">
                <a:solidFill>
                  <a:srgbClr val="ffffff"/>
                </a:solidFill>
                <a:latin typeface="DejaVu Sans"/>
                <a:cs typeface="DejaVu Sans"/>
              </a:rPr>
              <a:t>Đơn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vị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tập:</a:t>
            </a:r>
            <a:r>
              <a:rPr dirty="0" sz="2000" spc="33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Công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ty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Cổ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phần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-41">
                <a:solidFill>
                  <a:srgbClr val="93c5fd"/>
                </a:solidFill>
                <a:latin typeface="DejaVu Sans"/>
                <a:cs typeface="DejaVu Sans"/>
              </a:rPr>
              <a:t>Truyền</a:t>
            </a:r>
            <a:r>
              <a:rPr dirty="0" sz="2000" spc="56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thông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Ống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 spc="10">
                <a:solidFill>
                  <a:srgbClr val="93c5fd"/>
                </a:solidFill>
                <a:latin typeface="DejaVu Sans"/>
                <a:cs typeface="DejaVu Sans"/>
              </a:rPr>
              <a:t>Ngắm</a:t>
            </a:r>
          </a:p>
          <a:p>
            <a:pPr marL="1447948" marR="0">
              <a:lnSpc>
                <a:spcPts val="2346"/>
              </a:lnSpc>
              <a:spcBef>
                <a:spcPts val="2378"/>
              </a:spcBef>
              <a:spcAft>
                <a:spcPts val="0"/>
              </a:spcAft>
            </a:pPr>
            <a:r>
              <a:rPr dirty="0" sz="2000" spc="10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fffff"/>
                </a:solidFill>
                <a:latin typeface="DejaVu Sans"/>
                <a:cs typeface="DejaVu Sans"/>
              </a:rPr>
              <a:t>gian:</a:t>
            </a:r>
            <a:r>
              <a:rPr dirty="0" sz="2000" spc="33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21/07/2025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–</a:t>
            </a:r>
            <a:r>
              <a:rPr dirty="0" sz="2000" spc="12">
                <a:solidFill>
                  <a:srgbClr val="93c5fd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93c5fd"/>
                </a:solidFill>
                <a:latin typeface="DejaVu Sans"/>
                <a:cs typeface="DejaVu Sans"/>
              </a:rPr>
              <a:t>06/09/2025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50420" y="6576493"/>
            <a:ext cx="650860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Nguồn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ảnh: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d1d5db"/>
                </a:solidFill>
                <a:latin typeface="DejaVu Sans"/>
                <a:cs typeface="DejaVu Sans"/>
              </a:rPr>
              <a:t>Studio</a:t>
            </a:r>
            <a:r>
              <a:rPr dirty="0" sz="1200" spc="-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3">
                <a:solidFill>
                  <a:srgbClr val="d1d5db"/>
                </a:solidFill>
                <a:latin typeface="DejaVu Sans"/>
                <a:cs typeface="DejaVu Sans"/>
              </a:rPr>
              <a:t>Technology</a:t>
            </a:r>
            <a:r>
              <a:rPr dirty="0" sz="12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Background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Images,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d1d5db"/>
                </a:solidFill>
                <a:latin typeface="DejaVu Sans"/>
                <a:cs typeface="DejaVu Sans"/>
              </a:rPr>
              <a:t>HD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d1d5db"/>
                </a:solidFill>
                <a:latin typeface="DejaVu Sans"/>
                <a:cs typeface="DejaVu Sans"/>
              </a:rPr>
              <a:t>Pictures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d1d5db"/>
                </a:solidFill>
                <a:latin typeface="DejaVu Sans"/>
                <a:cs typeface="DejaVu Sans"/>
              </a:rPr>
              <a:t>and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d1d5db"/>
                </a:solidFill>
                <a:latin typeface="DejaVu Sans"/>
                <a:cs typeface="DejaVu Sans"/>
              </a:rPr>
              <a:t>Wallpaper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 spc="-36">
                <a:solidFill>
                  <a:srgbClr val="d1d5db"/>
                </a:solidFill>
                <a:latin typeface="DejaVu Sans"/>
                <a:cs typeface="DejaVu Sans"/>
              </a:rPr>
              <a:t>For</a:t>
            </a:r>
            <a:r>
              <a:rPr dirty="0" sz="1200" spc="18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d1d5db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28560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17998" y="333299"/>
            <a:ext cx="530840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5" b="1">
                <a:solidFill>
                  <a:srgbClr val="0f172a"/>
                </a:solidFill>
                <a:latin typeface="DejaVu Sans"/>
                <a:cs typeface="DejaVu Sans"/>
              </a:rPr>
              <a:t>Mục</a:t>
            </a:r>
            <a:r>
              <a:rPr dirty="0" sz="40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f172a"/>
                </a:solidFill>
                <a:latin typeface="DejaVu Sans"/>
                <a:cs typeface="DejaVu Sans"/>
              </a:rPr>
              <a:t>đích</a:t>
            </a:r>
            <a:r>
              <a:rPr dirty="0" sz="4050" spc="-1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f172a"/>
                </a:solidFill>
                <a:latin typeface="DejaVu Sans"/>
                <a:cs typeface="DejaVu Sans"/>
              </a:rPr>
              <a:t>thực</a:t>
            </a:r>
            <a:r>
              <a:rPr dirty="0" sz="40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f172a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27031" y="1174047"/>
            <a:ext cx="355405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Tiếp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cận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môi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trường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chuyên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27031" y="1422452"/>
            <a:ext cx="3781883" cy="6310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Tham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gia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vào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quy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làm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tế,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học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hỏi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văn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doanh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nghiệp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chuẩn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mực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nghề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nghiệp.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927031" y="2240847"/>
            <a:ext cx="241600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Hiểu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quy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27030" y="2489252"/>
            <a:ext cx="3879287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Nắm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bắt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TVC,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video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quảng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cáo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từ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ý</a:t>
            </a:r>
            <a:r>
              <a:rPr dirty="0" sz="1200" spc="-2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tưởng,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kịch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bản,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đến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hậu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kỳ.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27030" y="3088572"/>
            <a:ext cx="3829189" cy="679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Áp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dụng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kiến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thức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CNTT</a:t>
            </a:r>
            <a:r>
              <a:rPr dirty="0" sz="1350" spc="-11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&amp;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AI</a:t>
            </a:r>
          </a:p>
          <a:p>
            <a:pPr marL="0" marR="0">
              <a:lnSpc>
                <a:spcPts val="1368"/>
              </a:lnSpc>
              <a:spcBef>
                <a:spcPts val="34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Vận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lập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AI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để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giải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quyết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vấn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đề,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tối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quy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xuất.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27031" y="3945822"/>
            <a:ext cx="246238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Rèn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luyện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kỹ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năng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mềm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927030" y="4194227"/>
            <a:ext cx="3700562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Phát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kỹ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làm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nhóm,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giao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tiếp,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lý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gian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môi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trường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áp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lực.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927031" y="4793547"/>
            <a:ext cx="252013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Định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hướng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nghề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f172a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927030" y="5041952"/>
            <a:ext cx="3928532" cy="6405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lộ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phát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sự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nghiệp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phù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lực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sở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thích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nhân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ngành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truyền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số.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1556" y="6212017"/>
            <a:ext cx="49846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93" b="1">
                <a:solidFill>
                  <a:srgbClr val="ffffff"/>
                </a:solidFill>
                <a:latin typeface="DejaVu Sans"/>
                <a:cs typeface="DejaVu Sans"/>
              </a:rPr>
              <a:t>Tá</a:t>
            </a:r>
            <a:r>
              <a:rPr dirty="0" sz="1500" spc="-51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1556" y="6508046"/>
            <a:ext cx="1076630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cụ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ffffff"/>
                </a:solidFill>
                <a:latin typeface="DejaVu Sans"/>
                <a:cs typeface="DejaVu Sans"/>
              </a:rPr>
              <a:t>mạng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dung,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cắt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dirty="0" sz="1200" spc="-18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kể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lên</a:t>
            </a:r>
            <a:r>
              <a:rPr dirty="0" sz="1200" spc="-1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đến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de047"/>
                </a:solidFill>
                <a:latin typeface="DejaVu Sans"/>
                <a:cs typeface="DejaVu Sans"/>
              </a:rPr>
              <a:t>80%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.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(Nguồn: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Storydoc)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877918" y="6909606"/>
            <a:ext cx="403979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Nguồn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ảnh: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Best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AI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 spc="-31">
                <a:solidFill>
                  <a:srgbClr val="0f172a"/>
                </a:solidFill>
                <a:latin typeface="DejaVu Sans"/>
                <a:cs typeface="DejaVu Sans"/>
              </a:rPr>
              <a:t>Tools</a:t>
            </a:r>
            <a:r>
              <a:rPr dirty="0" sz="1000" spc="37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and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Platforms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for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Video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f172a"/>
                </a:solidFill>
                <a:latin typeface="DejaVu Sans"/>
                <a:cs typeface="DejaVu Sans"/>
              </a:rPr>
              <a:t>Generation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347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536602" y="380925"/>
            <a:ext cx="5271149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d253f"/>
                </a:solidFill>
                <a:latin typeface="DejaVu Sans"/>
                <a:cs typeface="DejaVu Sans"/>
              </a:rPr>
              <a:t>Giới</a:t>
            </a:r>
            <a:r>
              <a:rPr dirty="0" sz="405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d253f"/>
                </a:solidFill>
                <a:latin typeface="DejaVu Sans"/>
                <a:cs typeface="DejaVu Sans"/>
              </a:rPr>
              <a:t>thiệu</a:t>
            </a:r>
            <a:r>
              <a:rPr dirty="0" sz="4050" spc="-1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d253f"/>
                </a:solidFill>
                <a:latin typeface="DejaVu Sans"/>
                <a:cs typeface="DejaVu Sans"/>
              </a:rPr>
              <a:t>công</a:t>
            </a:r>
            <a:r>
              <a:rPr dirty="0" sz="405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0d253f"/>
                </a:solidFill>
                <a:latin typeface="DejaVu Sans"/>
                <a:cs typeface="DejaVu Sans"/>
              </a:rPr>
              <a:t>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38826" y="1273629"/>
            <a:ext cx="1753706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01b4e4"/>
                </a:solidFill>
                <a:latin typeface="DejaVu Sans"/>
                <a:cs typeface="DejaVu Sans"/>
              </a:rPr>
              <a:t>15+</a:t>
            </a:r>
            <a:r>
              <a:rPr dirty="0" sz="250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1b4e4"/>
                </a:solidFill>
                <a:latin typeface="DejaVu Sans"/>
                <a:cs typeface="DejaVu Sans"/>
              </a:rPr>
              <a:t>năm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690" y="1404627"/>
            <a:ext cx="3914029" cy="8073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0" b="1">
                <a:solidFill>
                  <a:srgbClr val="0d253f"/>
                </a:solidFill>
                <a:latin typeface="DejaVu Sans"/>
                <a:cs typeface="DejaVu Sans"/>
              </a:rPr>
              <a:t>Viewﬁnder</a:t>
            </a:r>
            <a:r>
              <a:rPr dirty="0" sz="3000" spc="1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0d253f"/>
                </a:solidFill>
                <a:latin typeface="DejaVu Sans"/>
                <a:cs typeface="DejaVu Sans"/>
              </a:rPr>
              <a:t>Media</a:t>
            </a:r>
          </a:p>
          <a:p>
            <a:pPr marL="0" marR="0">
              <a:lnSpc>
                <a:spcPts val="2346"/>
              </a:lnSpc>
              <a:spcBef>
                <a:spcPts val="240"/>
              </a:spcBef>
              <a:spcAft>
                <a:spcPts val="0"/>
              </a:spcAft>
            </a:pPr>
            <a:r>
              <a:rPr dirty="0" sz="2000" spc="10" b="1">
                <a:solidFill>
                  <a:srgbClr val="01b4e4"/>
                </a:solidFill>
                <a:latin typeface="DejaVu Sans"/>
                <a:cs typeface="DejaVu Sans"/>
              </a:rPr>
              <a:t>Thành</a:t>
            </a:r>
            <a:r>
              <a:rPr dirty="0" sz="200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1b4e4"/>
                </a:solidFill>
                <a:latin typeface="DejaVu Sans"/>
                <a:cs typeface="DejaVu Sans"/>
              </a:rPr>
              <a:t>lập</a:t>
            </a:r>
            <a:r>
              <a:rPr dirty="0" sz="200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1b4e4"/>
                </a:solidFill>
                <a:latin typeface="DejaVu Sans"/>
                <a:cs typeface="DejaVu Sans"/>
              </a:rPr>
              <a:t>2008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24105" y="1782893"/>
            <a:ext cx="151407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Kinh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nghiệm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5818" y="2402018"/>
            <a:ext cx="6242705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d253f"/>
                </a:solidFill>
                <a:latin typeface="DejaVu Sans"/>
                <a:cs typeface="DejaVu Sans"/>
              </a:rPr>
              <a:t>Tầm</a:t>
            </a:r>
            <a:r>
              <a:rPr dirty="0" sz="15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d253f"/>
                </a:solidFill>
                <a:latin typeface="DejaVu Sans"/>
                <a:cs typeface="DejaVu Sans"/>
              </a:rPr>
              <a:t>nhìn:</a:t>
            </a:r>
            <a:r>
              <a:rPr dirty="0" sz="1500" spc="-43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 spc="-108">
                <a:solidFill>
                  <a:srgbClr val="0d253f"/>
                </a:solidFill>
                <a:latin typeface="DejaVu Sans"/>
                <a:cs typeface="DejaVu Sans"/>
              </a:rPr>
              <a:t>Tr</a:t>
            </a:r>
            <a:r>
              <a:rPr dirty="0" sz="1500" spc="-47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ở</a:t>
            </a:r>
            <a:r>
              <a:rPr dirty="0" sz="1500" spc="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Production</a:t>
            </a:r>
            <a:r>
              <a:rPr dirty="0" sz="1500" spc="1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House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hàng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đầu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Đông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Nam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Á,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mang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đến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những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giải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pháp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truyền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đột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phá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chất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lượng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vượt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trội,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định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tương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lai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ngành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nghiệp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sáng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d253f"/>
                </a:solidFill>
                <a:latin typeface="DejaVu Sans"/>
                <a:cs typeface="DejaVu Sans"/>
              </a:rPr>
              <a:t>tạo.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238826" y="2597604"/>
            <a:ext cx="1310949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01b4e4"/>
                </a:solidFill>
                <a:latin typeface="DejaVu Sans"/>
                <a:cs typeface="DejaVu Sans"/>
              </a:rPr>
              <a:t>1200+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324105" y="3097343"/>
            <a:ext cx="22648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án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truyền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38474" y="3835854"/>
            <a:ext cx="6267388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d253f"/>
                </a:solidFill>
                <a:latin typeface="DejaVu Sans"/>
                <a:cs typeface="DejaVu Sans"/>
              </a:rPr>
              <a:t>Quy</a:t>
            </a:r>
            <a:r>
              <a:rPr dirty="0" sz="25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0d253f"/>
                </a:solidFill>
                <a:latin typeface="DejaVu Sans"/>
                <a:cs typeface="DejaVu Sans"/>
              </a:rPr>
              <a:t>trình</a:t>
            </a:r>
            <a:r>
              <a:rPr dirty="0" sz="2500" spc="1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253f"/>
                </a:solidFill>
                <a:latin typeface="DejaVu Sans"/>
                <a:cs typeface="DejaVu Sans"/>
              </a:rPr>
              <a:t>sản</a:t>
            </a:r>
            <a:r>
              <a:rPr dirty="0" sz="25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253f"/>
                </a:solidFill>
                <a:latin typeface="DejaVu Sans"/>
                <a:cs typeface="DejaVu Sans"/>
              </a:rPr>
              <a:t>xuất</a:t>
            </a:r>
            <a:r>
              <a:rPr dirty="0" sz="25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253f"/>
                </a:solidFill>
                <a:latin typeface="DejaVu Sans"/>
                <a:cs typeface="DejaVu Sans"/>
              </a:rPr>
              <a:t>chuyên</a:t>
            </a:r>
            <a:r>
              <a:rPr dirty="0" sz="25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0d253f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14834" y="5649288"/>
            <a:ext cx="102261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01b4e4"/>
                </a:solidFill>
                <a:latin typeface="DejaVu Sans"/>
                <a:cs typeface="DejaVu Sans"/>
              </a:rPr>
              <a:t>Tiền</a:t>
            </a:r>
            <a:r>
              <a:rPr dirty="0" sz="1700" spc="-1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1b4e4"/>
                </a:solidFill>
                <a:latin typeface="DejaVu Sans"/>
                <a:cs typeface="DejaVu Sans"/>
              </a:rPr>
              <a:t>kỳ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654128" y="5649288"/>
            <a:ext cx="144520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33" b="1">
                <a:solidFill>
                  <a:srgbClr val="01b4e4"/>
                </a:solidFill>
                <a:latin typeface="DejaVu Sans"/>
                <a:cs typeface="DejaVu Sans"/>
              </a:rPr>
              <a:t>Quay</a:t>
            </a:r>
            <a:r>
              <a:rPr dirty="0" sz="1700" spc="11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1b4e4"/>
                </a:solidFill>
                <a:latin typeface="DejaVu Sans"/>
                <a:cs typeface="DejaVu Sans"/>
              </a:rPr>
              <a:t>dựng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060333" y="5649288"/>
            <a:ext cx="98179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1b4e4"/>
                </a:solidFill>
                <a:latin typeface="DejaVu Sans"/>
                <a:cs typeface="DejaVu Sans"/>
              </a:rPr>
              <a:t>Hậu</a:t>
            </a:r>
            <a:r>
              <a:rPr dirty="0" sz="170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1b4e4"/>
                </a:solidFill>
                <a:latin typeface="DejaVu Sans"/>
                <a:cs typeface="DejaVu Sans"/>
              </a:rPr>
              <a:t>kỳ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1122" y="6023027"/>
            <a:ext cx="3340715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Phát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ý</a:t>
            </a:r>
            <a:r>
              <a:rPr dirty="0" sz="1200" spc="-2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tưởng,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lên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kịch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bản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chi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tiết,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và</a:t>
            </a:r>
          </a:p>
          <a:p>
            <a:pPr marL="411956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xây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storyboard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quan.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470498" y="6023027"/>
            <a:ext cx="3403400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ghi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chất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lượng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cao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trang</a:t>
            </a:r>
          </a:p>
          <a:p>
            <a:pPr marL="163562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thiết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bị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đại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đội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ngũ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chuyên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gia.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347768" y="6023027"/>
            <a:ext cx="3350047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sửa,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phim,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thêm</a:t>
            </a:r>
            <a:r>
              <a:rPr dirty="0" sz="1200" spc="-18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d253f"/>
                </a:solidFill>
                <a:latin typeface="DejaVu Sans"/>
                <a:cs typeface="DejaVu Sans"/>
              </a:rPr>
              <a:t>hình</a:t>
            </a:r>
          </a:p>
          <a:p>
            <a:pPr marL="287238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(VFX)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hoàn</a:t>
            </a:r>
            <a:r>
              <a:rPr dirty="0" sz="120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thiện</a:t>
            </a:r>
            <a:r>
              <a:rPr dirty="0" sz="1200" spc="-1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d253f"/>
                </a:solidFill>
                <a:latin typeface="DejaVu Sans"/>
                <a:cs typeface="DejaVu Sans"/>
              </a:rPr>
              <a:t>âm</a:t>
            </a:r>
            <a:r>
              <a:rPr dirty="0" sz="1200" spc="-17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d253f"/>
                </a:solidFill>
                <a:latin typeface="DejaVu Sans"/>
                <a:cs typeface="DejaVu Sans"/>
              </a:rPr>
              <a:t>thanh.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06375" y="6952705"/>
            <a:ext cx="335923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Tiên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253f"/>
                </a:solidFill>
                <a:latin typeface="DejaVu Sans"/>
                <a:cs typeface="DejaVu Sans"/>
              </a:rPr>
              <a:t>phong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253f"/>
                </a:solidFill>
                <a:latin typeface="DejaVu Sans"/>
                <a:cs typeface="DejaVu Sans"/>
              </a:rPr>
              <a:t>công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d253f"/>
                </a:solidFill>
                <a:latin typeface="DejaVu Sans"/>
                <a:cs typeface="DejaVu Sans"/>
              </a:rPr>
              <a:t>nghệ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03676" y="6952705"/>
            <a:ext cx="271989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0d253f"/>
                </a:solidFill>
                <a:latin typeface="DejaVu Sans"/>
                <a:cs typeface="DejaVu Sans"/>
              </a:rPr>
              <a:t>Đối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tác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chiến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d253f"/>
                </a:solidFill>
                <a:latin typeface="DejaVu Sans"/>
                <a:cs typeface="DejaVu Sans"/>
              </a:rPr>
              <a:t>lược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34479" y="7403397"/>
            <a:ext cx="502365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 spc="-51" b="1">
                <a:solidFill>
                  <a:srgbClr val="01b4e4"/>
                </a:solidFill>
                <a:latin typeface="DejaVu Sans"/>
                <a:cs typeface="DejaVu Sans"/>
              </a:rPr>
              <a:t>Trí</a:t>
            </a:r>
            <a:r>
              <a:rPr dirty="0" sz="1350" spc="46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tuệ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nhân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tạo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(AI)</a:t>
            </a:r>
            <a:r>
              <a:rPr dirty="0" sz="1350" spc="-41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sản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xuất.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94548" y="7403397"/>
            <a:ext cx="4908972" cy="617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Tự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hào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đối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tin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cậy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thương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hàng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đầu:</a:t>
            </a:r>
          </a:p>
          <a:p>
            <a:pPr marL="127991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dirty="0" sz="1350" spc="-30" b="1">
                <a:solidFill>
                  <a:srgbClr val="ffffff"/>
                </a:solidFill>
                <a:latin typeface="DejaVu Sans"/>
                <a:cs typeface="DejaVu Sans"/>
              </a:rPr>
              <a:t>Yamaha</a:t>
            </a:r>
            <a:r>
              <a:rPr dirty="0" sz="1350" spc="2579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Vietnam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Airlines</a:t>
            </a:r>
            <a:r>
              <a:rPr dirty="0" sz="1350" spc="255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KIA</a:t>
            </a:r>
            <a:r>
              <a:rPr dirty="0" sz="1350" spc="2553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ffffff"/>
                </a:solidFill>
                <a:latin typeface="DejaVu Sans"/>
                <a:cs typeface="DejaVu Sans"/>
              </a:rPr>
              <a:t>Honda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34479" y="7698672"/>
            <a:ext cx="500037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Sử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Hiệu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ứng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hình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ảnh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(VFX)</a:t>
            </a:r>
            <a:r>
              <a:rPr dirty="0" sz="1350" spc="-4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Đồ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họa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3D</a:t>
            </a:r>
            <a:r>
              <a:rPr dirty="0" sz="1350" spc="-43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đỉnh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97247" y="7955847"/>
            <a:ext cx="5205469" cy="7892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1">
                <a:solidFill>
                  <a:srgbClr val="0d253f"/>
                </a:solidFill>
                <a:latin typeface="DejaVu Sans"/>
                <a:cs typeface="DejaVu Sans"/>
              </a:rPr>
              <a:t>cao.</a:t>
            </a:r>
          </a:p>
          <a:p>
            <a:pPr marL="237231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Làm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chủ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mềm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chuyên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dụng: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Premiere,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After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01b4e4"/>
                </a:solidFill>
                <a:latin typeface="DejaVu Sans"/>
                <a:cs typeface="DejaVu Sans"/>
              </a:rPr>
              <a:t>Eﬀects</a:t>
            </a:r>
            <a:r>
              <a:rPr dirty="0" sz="1350">
                <a:solidFill>
                  <a:srgbClr val="0d253f"/>
                </a:solidFill>
                <a:latin typeface="DejaVu Sans"/>
                <a:cs typeface="DejaVu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99019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119139" y="323139"/>
            <a:ext cx="6106092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0f172a"/>
                </a:solidFill>
                <a:latin typeface="DejaVu Sans"/>
                <a:cs typeface="DejaVu Sans"/>
              </a:rPr>
              <a:t>Tổng</a:t>
            </a:r>
            <a:r>
              <a:rPr dirty="0" sz="40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f172a"/>
                </a:solidFill>
                <a:latin typeface="DejaVu Sans"/>
                <a:cs typeface="DejaVu Sans"/>
              </a:rPr>
              <a:t>quan</a:t>
            </a:r>
            <a:r>
              <a:rPr dirty="0" sz="40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405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0f172a"/>
                </a:solidFill>
                <a:latin typeface="DejaVu Sans"/>
                <a:cs typeface="DejaVu Sans"/>
              </a:rPr>
              <a:t>việc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6911" y="1086932"/>
            <a:ext cx="10810392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46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500" spc="56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thời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gian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tập,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tôi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đã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tham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gia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nhiều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hạng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mục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đa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dạng,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áp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kiến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thức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nghệ</a:t>
            </a:r>
          </a:p>
          <a:p>
            <a:pPr marL="2484685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tin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vào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quy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truyền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hiện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f172a"/>
                </a:solidFill>
                <a:latin typeface="DejaVu Sans"/>
                <a:cs typeface="DejaVu Sans"/>
              </a:rPr>
              <a:t>đại.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08335" y="3591253"/>
            <a:ext cx="2552800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Lập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700" spc="-1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Tự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động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976663" y="3657928"/>
            <a:ext cx="283854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33" b="1">
                <a:solidFill>
                  <a:srgbClr val="0f172a"/>
                </a:solidFill>
                <a:latin typeface="DejaVu Sans"/>
                <a:cs typeface="DejaVu Sans"/>
              </a:rPr>
              <a:t>Quay</a:t>
            </a:r>
            <a:r>
              <a:rPr dirty="0" sz="1700" spc="11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dựng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44991" y="3657928"/>
            <a:ext cx="179999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AI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Sáng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0f172a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10384" y="4098342"/>
            <a:ext cx="3153319" cy="1059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Tham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gia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hỗ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trợ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trực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đoạn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setup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ánh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sáng,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âm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thanh,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vận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hành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camera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buổi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quay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hình,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đảm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bảo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lượng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âm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thanh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chuyên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nghiệp.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78712" y="4098342"/>
            <a:ext cx="3246105" cy="10596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Nghiên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cứu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ứng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dụng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nghệ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f172a"/>
                </a:solidFill>
                <a:latin typeface="DejaVu Sans"/>
                <a:cs typeface="DejaVu Sans"/>
              </a:rPr>
              <a:t>AI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để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dựng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storyboard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tạo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video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quảng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cáo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sinh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ra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bởi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AI,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0f172a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ra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hướng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mới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nội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2056" y="4269792"/>
            <a:ext cx="3315714" cy="8501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Phát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triển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tối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ưu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phần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f172a"/>
                </a:solidFill>
                <a:latin typeface="DejaVu Sans"/>
                <a:cs typeface="DejaVu Sans"/>
              </a:rPr>
              <a:t>mềm,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đặc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biệt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là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cụ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tự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quá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trình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gửi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email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trong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chiến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dịch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marketing,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tối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tiếp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cận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khách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hàng.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49785" y="7325053"/>
            <a:ext cx="240503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Nghiên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cứu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dữ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60678" y="7325053"/>
            <a:ext cx="98179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f172a"/>
                </a:solidFill>
                <a:latin typeface="DejaVu Sans"/>
                <a:cs typeface="DejaVu Sans"/>
              </a:rPr>
              <a:t>Hậu</a:t>
            </a:r>
            <a:r>
              <a:rPr dirty="0" sz="1700" b="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DejaVu Sans"/>
                <a:cs typeface="DejaVu Sans"/>
              </a:rPr>
              <a:t>kỳ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83507" y="7765467"/>
            <a:ext cx="306767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Phân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tích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sâu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rộng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hành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khách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hàng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94400" y="7765467"/>
            <a:ext cx="3325188" cy="8501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Thực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hiện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đoạn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chỉnh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màu,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dựng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ﬁnal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hoàn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thiện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phẩm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video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cuối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cùng,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đảm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bảo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phẩm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đạt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lượng</a:t>
            </a:r>
          </a:p>
          <a:p>
            <a:pPr marL="0" marR="0">
              <a:lnSpc>
                <a:spcPts val="1368"/>
              </a:lnSpc>
              <a:spcBef>
                <a:spcPts val="281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cao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nhất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trước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khi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bàn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giao.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583507" y="7975017"/>
            <a:ext cx="3365786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qua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dữ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liệu,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cung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cấp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thông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tin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chi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tiết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giúp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chiến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f172a"/>
                </a:solidFill>
                <a:latin typeface="DejaVu Sans"/>
                <a:cs typeface="DejaVu Sans"/>
              </a:rPr>
              <a:t>lược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f172a"/>
                </a:solidFill>
                <a:latin typeface="DejaVu Sans"/>
                <a:cs typeface="DejaVu Sans"/>
              </a:rPr>
              <a:t>marketing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f172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dung</a:t>
            </a:r>
            <a:r>
              <a:rPr dirty="0" sz="120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f172a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0f172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f172a"/>
                </a:solidFill>
                <a:latin typeface="DejaVu Sans"/>
                <a:cs typeface="DejaVu Sans"/>
              </a:rPr>
              <a:t>quả.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589287" y="9220528"/>
            <a:ext cx="516567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với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AI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&amp;</a:t>
            </a:r>
            <a:r>
              <a:rPr dirty="0" sz="1700" spc="-2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Tự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3237" y="9556167"/>
            <a:ext cx="10537861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ffffff"/>
                </a:solidFill>
                <a:latin typeface="DejaVu Sans"/>
                <a:cs typeface="DejaVu Sans"/>
              </a:rPr>
              <a:t>Việc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tích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66">
                <a:solidFill>
                  <a:srgbClr val="ffffff"/>
                </a:solidFill>
                <a:latin typeface="DejaVu Sans"/>
                <a:cs typeface="DejaVu Sans"/>
              </a:rPr>
              <a:t>Trí</a:t>
            </a:r>
            <a:r>
              <a:rPr dirty="0" sz="1200" spc="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tuệ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nhân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ffff"/>
                </a:solidFill>
                <a:latin typeface="DejaVu Sans"/>
                <a:cs typeface="DejaVu Sans"/>
              </a:rPr>
              <a:t>tạo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(AI)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giải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pháp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tự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đang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cách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ffffff"/>
                </a:solidFill>
                <a:latin typeface="DejaVu Sans"/>
                <a:cs typeface="DejaVu Sans"/>
              </a:rPr>
              <a:t>mạng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ngành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dung,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ffffff"/>
                </a:solidFill>
                <a:latin typeface="DejaVu Sans"/>
                <a:cs typeface="DejaVu Sans"/>
              </a:rPr>
              <a:t>mang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lại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kể.</a:t>
            </a:r>
          </a:p>
          <a:p>
            <a:pPr marL="3531542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Theo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Storydoc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,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cụ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này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có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thể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giúp: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63427" y="10007418"/>
            <a:ext cx="7017620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dirty="0" sz="2500" spc="14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DejaVu Sans"/>
                <a:cs typeface="DejaVu Sans"/>
              </a:rPr>
              <a:t>80%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DejaVu Sans"/>
                <a:cs typeface="DejaVu Sans"/>
              </a:rPr>
              <a:t>nội</a:t>
            </a:r>
            <a:r>
              <a:rPr dirty="0" sz="2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ffffff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698854" y="10738021"/>
            <a:ext cx="321884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Sources: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Storydoc,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64748b"/>
                </a:solidFill>
                <a:latin typeface="DejaVu Sans"/>
                <a:cs typeface="DejaVu Sans"/>
              </a:rPr>
              <a:t>Freepik,</a:t>
            </a:r>
            <a:r>
              <a:rPr dirty="0" sz="1000" spc="14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Adobe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Stock,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 spc="-12">
                <a:solidFill>
                  <a:srgbClr val="64748b"/>
                </a:solidFill>
                <a:latin typeface="DejaVu Sans"/>
                <a:cs typeface="DejaVu Sans"/>
              </a:rPr>
              <a:t>Pexels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6578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244179" y="375723"/>
            <a:ext cx="7855973" cy="4671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0f172a"/>
                </a:solidFill>
                <a:latin typeface="Liberation Sans"/>
                <a:cs typeface="Liberation Sans"/>
              </a:rPr>
              <a:t>Công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0" b="1">
                <a:solidFill>
                  <a:srgbClr val="0f172a"/>
                </a:solidFill>
                <a:latin typeface="Liberation Sans"/>
                <a:cs typeface="Liberation Sans"/>
              </a:rPr>
              <a:t>việc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0f172a"/>
                </a:solidFill>
                <a:latin typeface="Liberation Sans"/>
                <a:cs typeface="Liberation Sans"/>
              </a:rPr>
              <a:t>1: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0f172a"/>
                </a:solidFill>
                <a:latin typeface="Liberation Sans"/>
                <a:cs typeface="Liberation Sans"/>
              </a:rPr>
              <a:t>Phần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7" b="1">
                <a:solidFill>
                  <a:srgbClr val="0f172a"/>
                </a:solidFill>
                <a:latin typeface="Liberation Sans"/>
                <a:cs typeface="Liberation Sans"/>
              </a:rPr>
              <a:t>mềm</a:t>
            </a:r>
            <a:r>
              <a:rPr dirty="0" sz="3000" spc="1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5" b="1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2" b="1">
                <a:solidFill>
                  <a:srgbClr val="0f172a"/>
                </a:solidFill>
                <a:latin typeface="Liberation Sans"/>
                <a:cs typeface="Liberation Sans"/>
              </a:rPr>
              <a:t>email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b="1">
                <a:solidFill>
                  <a:srgbClr val="0f172a"/>
                </a:solidFill>
                <a:latin typeface="Liberation Sans"/>
                <a:cs typeface="Liberation Sans"/>
              </a:rPr>
              <a:t>tự</a:t>
            </a:r>
            <a:r>
              <a:rPr dirty="0" sz="3000" spc="15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3000" spc="14" b="1">
                <a:solidFill>
                  <a:srgbClr val="0f172a"/>
                </a:solidFill>
                <a:latin typeface="Liberation Sans"/>
                <a:cs typeface="Liberation Sans"/>
              </a:rPr>
              <a:t>động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46001" y="1386963"/>
            <a:ext cx="991750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Vấn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đề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41057" y="1386963"/>
            <a:ext cx="1318732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Giải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pháp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37009" y="1921158"/>
            <a:ext cx="4891287" cy="8527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email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thủ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công: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tốn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nhiều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thời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gian,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dễ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xảy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sai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sót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đặc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biệt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khó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cá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nhân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nội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dung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cho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từng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người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nhận,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giảm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hiệu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quả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tương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tác.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32065" y="1921158"/>
            <a:ext cx="4681829" cy="8527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Tự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động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hóa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với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Google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Workspace:</a:t>
            </a:r>
            <a:r>
              <a:rPr dirty="0" sz="15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Xây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dựng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hệ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thống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sử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dụng</a:t>
            </a:r>
            <a:r>
              <a:rPr dirty="0" sz="1500" spc="675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e40af"/>
                </a:solidFill>
                <a:latin typeface="Liberation Sans"/>
                <a:cs typeface="Liberation Sans"/>
              </a:rPr>
              <a:t>Google</a:t>
            </a:r>
            <a:r>
              <a:rPr dirty="0" sz="150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e40af"/>
                </a:solidFill>
                <a:latin typeface="Liberation Sans"/>
                <a:cs typeface="Liberation Sans"/>
              </a:rPr>
              <a:t>Sheet</a:t>
            </a:r>
            <a:r>
              <a:rPr dirty="0" sz="1500" spc="671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để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quản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dữ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liệu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và</a:t>
            </a:r>
          </a:p>
          <a:p>
            <a:pPr marL="85278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166534"/>
                </a:solidFill>
                <a:latin typeface="Liberation Sans"/>
                <a:cs typeface="Liberation Sans"/>
              </a:rPr>
              <a:t>Google</a:t>
            </a:r>
            <a:r>
              <a:rPr dirty="0" sz="1500" spc="-8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66534"/>
                </a:solidFill>
                <a:latin typeface="Liberation Sans"/>
                <a:cs typeface="Liberation Sans"/>
              </a:rPr>
              <a:t>Apps</a:t>
            </a:r>
            <a:r>
              <a:rPr dirty="0" sz="150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166534"/>
                </a:solidFill>
                <a:latin typeface="Liberation Sans"/>
                <a:cs typeface="Liberation Sans"/>
              </a:rPr>
              <a:t>Script</a:t>
            </a:r>
            <a:r>
              <a:rPr dirty="0" sz="1500" spc="673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để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thực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lệnh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gửi.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043338" y="3320538"/>
            <a:ext cx="2257674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Chức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năng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chính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49870" y="4530743"/>
            <a:ext cx="210789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0f172a"/>
                </a:solidFill>
                <a:latin typeface="Liberation Sans"/>
                <a:cs typeface="Liberation Sans"/>
              </a:rPr>
              <a:t>Mail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f172a"/>
                </a:solidFill>
                <a:latin typeface="Liberation Sans"/>
                <a:cs typeface="Liberation Sans"/>
              </a:rPr>
              <a:t>Hàng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0f172a"/>
                </a:solidFill>
                <a:latin typeface="Liberation Sans"/>
                <a:cs typeface="Liberation Sans"/>
              </a:rPr>
              <a:t>Loạt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28889" y="4530743"/>
            <a:ext cx="2486563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0f172a"/>
                </a:solidFill>
                <a:latin typeface="Liberation Sans"/>
                <a:cs typeface="Liberation Sans"/>
              </a:rPr>
              <a:t>Cá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f172a"/>
                </a:solidFill>
                <a:latin typeface="Liberation Sans"/>
                <a:cs typeface="Liberation Sans"/>
              </a:rPr>
              <a:t>Nhân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Liberation Sans"/>
                <a:cs typeface="Liberation Sans"/>
              </a:rPr>
              <a:t>Hóa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4" b="1">
                <a:solidFill>
                  <a:srgbClr val="0f172a"/>
                </a:solidFill>
                <a:latin typeface="Liberation Sans"/>
                <a:cs typeface="Liberation Sans"/>
              </a:rPr>
              <a:t>Nội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2" b="1">
                <a:solidFill>
                  <a:srgbClr val="0f172a"/>
                </a:solidFill>
                <a:latin typeface="Liberation Sans"/>
                <a:cs typeface="Liberation Sans"/>
              </a:rPr>
              <a:t>Dung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0573" y="4530743"/>
            <a:ext cx="2119657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0f172a"/>
                </a:solidFill>
                <a:latin typeface="Liberation Sans"/>
                <a:cs typeface="Liberation Sans"/>
              </a:rPr>
              <a:t>Log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34" b="1">
                <a:solidFill>
                  <a:srgbClr val="0f172a"/>
                </a:solidFill>
                <a:latin typeface="Liberation Sans"/>
                <a:cs typeface="Liberation Sans"/>
              </a:rPr>
              <a:t>Trạng</a:t>
            </a:r>
            <a:r>
              <a:rPr dirty="0" sz="1700" spc="15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1" b="1">
                <a:solidFill>
                  <a:srgbClr val="0f172a"/>
                </a:solidFill>
                <a:latin typeface="Liberation Sans"/>
                <a:cs typeface="Liberation Sans"/>
              </a:rPr>
              <a:t>Thái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5" b="1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44909" y="4874173"/>
            <a:ext cx="2917862" cy="485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Tự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động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email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tới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danh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sách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lớn</a:t>
            </a:r>
          </a:p>
          <a:p>
            <a:pPr marL="268337" marR="0">
              <a:lnSpc>
                <a:spcPts val="1501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khách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hàng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từ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Google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Sheet.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41043" y="4874173"/>
            <a:ext cx="3262218" cy="7431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Tùy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chỉnh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tên,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thông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tin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sản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phẩm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các</a:t>
            </a:r>
          </a:p>
          <a:p>
            <a:pPr marL="195411" marR="0">
              <a:lnSpc>
                <a:spcPts val="1501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trường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dữ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liệu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khác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cho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từng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người</a:t>
            </a:r>
          </a:p>
          <a:p>
            <a:pPr marL="1341536" marR="0">
              <a:lnSpc>
                <a:spcPts val="1501"/>
              </a:lnSpc>
              <a:spcBef>
                <a:spcPts val="573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nhận.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341964" y="4874173"/>
            <a:ext cx="3196902" cy="4859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2153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Ghi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lại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kết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quả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(thành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công/lỗi)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và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thời</a:t>
            </a:r>
          </a:p>
          <a:p>
            <a:pPr marL="0" marR="0">
              <a:lnSpc>
                <a:spcPts val="1501"/>
              </a:lnSpc>
              <a:spcBef>
                <a:spcPts val="523"/>
              </a:spcBef>
              <a:spcAft>
                <a:spcPts val="0"/>
              </a:spcAft>
            </a:pP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gian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trực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tiếp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vào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Sheet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để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theo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350">
                <a:solidFill>
                  <a:srgbClr val="0f172a"/>
                </a:solidFill>
                <a:latin typeface="Liberation Sans"/>
                <a:cs typeface="Liberation Sans"/>
              </a:rPr>
              <a:t>dõi.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82861" y="6254238"/>
            <a:ext cx="2283421" cy="324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Kết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quả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đạt</a:t>
            </a:r>
            <a:r>
              <a:rPr dirty="0" sz="20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f172a"/>
                </a:solidFill>
                <a:latin typeface="Liberation Sans"/>
                <a:cs typeface="Liberation Sans"/>
              </a:rPr>
              <a:t>được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71791" y="6962255"/>
            <a:ext cx="1575805" cy="8962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756"/>
              </a:lnSpc>
              <a:spcBef>
                <a:spcPts val="0"/>
              </a:spcBef>
              <a:spcAft>
                <a:spcPts val="0"/>
              </a:spcAft>
            </a:pPr>
            <a:r>
              <a:rPr dirty="0" sz="6050" b="1">
                <a:solidFill>
                  <a:srgbClr val="3b82f6"/>
                </a:solidFill>
                <a:latin typeface="Liberation Sans"/>
                <a:cs typeface="Liberation Sans"/>
              </a:rPr>
              <a:t>60</a:t>
            </a:r>
            <a:r>
              <a:rPr dirty="0" sz="5050" b="1">
                <a:solidFill>
                  <a:srgbClr val="3b82f6"/>
                </a:solidFill>
                <a:latin typeface="Liberation Sans"/>
                <a:cs typeface="Liberation Sans"/>
              </a:rPr>
              <a:t>%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592614" y="7807342"/>
            <a:ext cx="1654930" cy="2764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0f172a"/>
                </a:solidFill>
                <a:latin typeface="Liberation Sans"/>
                <a:cs typeface="Liberation Sans"/>
              </a:rPr>
              <a:t>Giảm</a:t>
            </a:r>
            <a:r>
              <a:rPr dirty="0" sz="1700" spc="-12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Liberation Sans"/>
                <a:cs typeface="Liberation Sans"/>
              </a:rPr>
              <a:t>thời</a:t>
            </a:r>
            <a:r>
              <a:rPr dirty="0" sz="1700" b="1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700" spc="-10" b="1">
                <a:solidFill>
                  <a:srgbClr val="0f172a"/>
                </a:solidFill>
                <a:latin typeface="Liberation Sans"/>
                <a:cs typeface="Liberation Sans"/>
              </a:rPr>
              <a:t>gian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80285" y="8236232"/>
            <a:ext cx="4878625" cy="2526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So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với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quy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thủ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công,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nâng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cao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suất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đáng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kể.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71499" y="8712482"/>
            <a:ext cx="5466501" cy="5479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Tỉ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lệ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gửi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thành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cao,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đảm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bảo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thông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điệp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đến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được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khách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f172a"/>
                </a:solidFill>
                <a:latin typeface="Liberation Sans"/>
                <a:cs typeface="Liberation Sans"/>
              </a:rPr>
              <a:t>hàng.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8446" y="334315"/>
            <a:ext cx="10527324" cy="1148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Công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1e293b"/>
                </a:solidFill>
                <a:latin typeface="DejaVu Sans"/>
                <a:cs typeface="DejaVu Sans"/>
              </a:rPr>
              <a:t>việc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2: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5" b="1">
                <a:solidFill>
                  <a:srgbClr val="1e293b"/>
                </a:solidFill>
                <a:latin typeface="DejaVu Sans"/>
                <a:cs typeface="DejaVu Sans"/>
              </a:rPr>
              <a:t>Hỗ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trợ</a:t>
            </a:r>
            <a:r>
              <a:rPr dirty="0" sz="4050" spc="-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1e293b"/>
                </a:solidFill>
                <a:latin typeface="DejaVu Sans"/>
                <a:cs typeface="DejaVu Sans"/>
              </a:rPr>
              <a:t>sản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xuất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40" b="1">
                <a:solidFill>
                  <a:srgbClr val="1e293b"/>
                </a:solidFill>
                <a:latin typeface="DejaVu Sans"/>
                <a:cs typeface="DejaVu Sans"/>
              </a:rPr>
              <a:t>quay</a:t>
            </a:r>
          </a:p>
          <a:p>
            <a:pPr marL="4456508" marR="0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dựng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01741" y="2150945"/>
            <a:ext cx="2948821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1e293b"/>
                </a:solidFill>
                <a:latin typeface="DejaVu Sans"/>
                <a:cs typeface="DejaVu Sans"/>
              </a:rPr>
              <a:t>Nhiệm</a:t>
            </a:r>
            <a:r>
              <a:rPr dirty="0" sz="2500" spc="14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1e293b"/>
                </a:solidFill>
                <a:latin typeface="DejaVu Sans"/>
                <a:cs typeface="DejaVu Sans"/>
              </a:rPr>
              <a:t>vụ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1e293b"/>
                </a:solidFill>
                <a:latin typeface="DejaVu Sans"/>
                <a:cs typeface="DejaVu Sans"/>
              </a:rPr>
              <a:t>chính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110733" y="2726129"/>
            <a:ext cx="5222956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>
                <a:solidFill>
                  <a:srgbClr val="334155"/>
                </a:solidFill>
                <a:latin typeface="DejaVu Sans"/>
                <a:cs typeface="DejaVu Sans"/>
              </a:rPr>
              <a:t>Setup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ánh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334155"/>
                </a:solidFill>
                <a:latin typeface="DejaVu Sans"/>
                <a:cs typeface="DejaVu Sans"/>
              </a:rPr>
              <a:t>sáng,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âm</a:t>
            </a:r>
            <a:r>
              <a:rPr dirty="0" sz="1700" spc="-14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334155"/>
                </a:solidFill>
                <a:latin typeface="DejaVu Sans"/>
                <a:cs typeface="DejaVu Sans"/>
              </a:rPr>
              <a:t>thanh,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camera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tại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studio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&amp;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hiện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trường.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10733" y="3497654"/>
            <a:ext cx="527779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>
                <a:solidFill>
                  <a:srgbClr val="334155"/>
                </a:solidFill>
                <a:latin typeface="DejaVu Sans"/>
                <a:cs typeface="DejaVu Sans"/>
              </a:rPr>
              <a:t>Hỗ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trợ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điều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phối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diễn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viên,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kiểm</a:t>
            </a:r>
            <a:r>
              <a:rPr dirty="0" sz="1700" spc="-17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tra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khung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hình.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01741" y="4408370"/>
            <a:ext cx="3240217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Kết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quả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đạt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được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110733" y="4983554"/>
            <a:ext cx="514544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>
                <a:solidFill>
                  <a:srgbClr val="334155"/>
                </a:solidFill>
                <a:latin typeface="DejaVu Sans"/>
                <a:cs typeface="DejaVu Sans"/>
              </a:rPr>
              <a:t>Đảm</a:t>
            </a:r>
            <a:r>
              <a:rPr dirty="0" sz="1700" spc="-1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bảo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tiến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độ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34155"/>
                </a:solidFill>
                <a:latin typeface="DejaVu Sans"/>
                <a:cs typeface="DejaVu Sans"/>
              </a:rPr>
              <a:t>quay,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giảm</a:t>
            </a:r>
            <a:r>
              <a:rPr dirty="0" sz="1700" spc="-15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thiểu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lỗi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334155"/>
                </a:solidFill>
                <a:latin typeface="DejaVu Sans"/>
                <a:cs typeface="DejaVu Sans"/>
              </a:rPr>
              <a:t>kỹ</a:t>
            </a:r>
            <a:r>
              <a:rPr dirty="0" sz="17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34155"/>
                </a:solidFill>
                <a:latin typeface="DejaVu Sans"/>
                <a:cs typeface="DejaVu Sans"/>
              </a:rPr>
              <a:t>thuật.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41262" y="5715470"/>
            <a:ext cx="540385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Tầm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quan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trọng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của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41262" y="6117783"/>
            <a:ext cx="1066253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kỹ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thuật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phối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yếu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tố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then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chốt,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quay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dựng,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đảm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bảo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tiến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1262" y="6413058"/>
            <a:ext cx="569236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dirty="0" sz="1500" spc="-41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chất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lượng</a:t>
            </a:r>
            <a:r>
              <a:rPr dirty="0" sz="1500" spc="-3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phẩm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media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cuối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ffffff"/>
                </a:solidFill>
                <a:latin typeface="DejaVu Sans"/>
                <a:cs typeface="DejaVu Sans"/>
              </a:rPr>
              <a:t>cùng.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488833" y="6605822"/>
            <a:ext cx="268500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Nguồn: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 spc="-73">
                <a:solidFill>
                  <a:srgbClr val="64748b"/>
                </a:solidFill>
                <a:latin typeface="DejaVu Sans"/>
                <a:cs typeface="DejaVu Sans"/>
              </a:rPr>
              <a:t>Võ</a:t>
            </a:r>
            <a:r>
              <a:rPr dirty="0" sz="1000" spc="8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Duy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Bình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Bao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cao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 spc="-12">
                <a:solidFill>
                  <a:srgbClr val="64748b"/>
                </a:solidFill>
                <a:latin typeface="DejaVu Sans"/>
                <a:cs typeface="DejaVu Sans"/>
              </a:rPr>
              <a:t>TTNT.docx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448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54149" y="345701"/>
            <a:ext cx="10236144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1e3a8a"/>
                </a:solidFill>
                <a:latin typeface="DejaVu Sans"/>
                <a:cs typeface="DejaVu Sans"/>
              </a:rPr>
              <a:t>Công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1e3a8a"/>
                </a:solidFill>
                <a:latin typeface="DejaVu Sans"/>
                <a:cs typeface="DejaVu Sans"/>
              </a:rPr>
              <a:t>việc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1e3a8a"/>
                </a:solidFill>
                <a:latin typeface="DejaVu Sans"/>
                <a:cs typeface="DejaVu Sans"/>
              </a:rPr>
              <a:t>3: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1e3a8a"/>
                </a:solidFill>
                <a:latin typeface="DejaVu Sans"/>
                <a:cs typeface="DejaVu Sans"/>
              </a:rPr>
              <a:t>Ứng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1e3a8a"/>
                </a:solidFill>
                <a:latin typeface="DejaVu Sans"/>
                <a:cs typeface="DejaVu Sans"/>
              </a:rPr>
              <a:t>dụng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1e3a8a"/>
                </a:solidFill>
                <a:latin typeface="DejaVu Sans"/>
                <a:cs typeface="DejaVu Sans"/>
              </a:rPr>
              <a:t>AI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1e3a8a"/>
                </a:solidFill>
                <a:latin typeface="DejaVu Sans"/>
                <a:cs typeface="DejaVu Sans"/>
              </a:rPr>
              <a:t>trong</a:t>
            </a:r>
            <a:r>
              <a:rPr dirty="0" sz="3000" spc="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1e3a8a"/>
                </a:solidFill>
                <a:latin typeface="DejaVu Sans"/>
                <a:cs typeface="DejaVu Sans"/>
              </a:rPr>
              <a:t>sản</a:t>
            </a:r>
            <a:r>
              <a:rPr dirty="0" sz="3000" spc="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1e3a8a"/>
                </a:solidFill>
                <a:latin typeface="DejaVu Sans"/>
                <a:cs typeface="DejaVu Sans"/>
              </a:rPr>
              <a:t>xuất</a:t>
            </a:r>
            <a:r>
              <a:rPr dirty="0" sz="3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1e3a8a"/>
                </a:solidFill>
                <a:latin typeface="DejaVu Sans"/>
                <a:cs typeface="DejaVu Sans"/>
              </a:rPr>
              <a:t>video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9500" y="940778"/>
            <a:ext cx="651154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1e3a8a"/>
                </a:solidFill>
                <a:latin typeface="DejaVu Sans"/>
                <a:cs typeface="DejaVu Sans"/>
              </a:rPr>
              <a:t>Dự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án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quảng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cáo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iPhone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100%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AI-generated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4658" y="1372422"/>
            <a:ext cx="923467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phong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1e3a8a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khám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phá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tiềm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tuệ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nhân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nội</a:t>
            </a:r>
          </a:p>
          <a:p>
            <a:pPr marL="3469183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dung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quảng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cáo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đột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phá.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6249" y="2647262"/>
            <a:ext cx="2969550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1e3a8a"/>
                </a:solidFill>
                <a:latin typeface="DejaVu Sans"/>
                <a:cs typeface="DejaVu Sans"/>
              </a:rPr>
              <a:t>Bộ</a:t>
            </a:r>
            <a:r>
              <a:rPr dirty="0" sz="17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1e3a8a"/>
                </a:solidFill>
                <a:latin typeface="DejaVu Sans"/>
                <a:cs typeface="DejaVu Sans"/>
              </a:rPr>
              <a:t>công</a:t>
            </a:r>
            <a:r>
              <a:rPr dirty="0" sz="17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e3a8a"/>
                </a:solidFill>
                <a:latin typeface="DejaVu Sans"/>
                <a:cs typeface="DejaVu Sans"/>
              </a:rPr>
              <a:t>cụ</a:t>
            </a:r>
            <a:r>
              <a:rPr dirty="0" sz="1700" spc="-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3a8a"/>
                </a:solidFill>
                <a:latin typeface="DejaVu Sans"/>
                <a:cs typeface="DejaVu Sans"/>
              </a:rPr>
              <a:t>AI</a:t>
            </a:r>
            <a:r>
              <a:rPr dirty="0" sz="17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1e3a8a"/>
                </a:solidFill>
                <a:latin typeface="DejaVu Sans"/>
                <a:cs typeface="DejaVu Sans"/>
              </a:rPr>
              <a:t>mạnh</a:t>
            </a:r>
            <a:r>
              <a:rPr dirty="0" sz="17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700" spc="-21" b="1">
                <a:solidFill>
                  <a:srgbClr val="1e3a8a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27845" y="3163122"/>
            <a:ext cx="139392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>
                <a:solidFill>
                  <a:srgbClr val="1e3a8a"/>
                </a:solidFill>
                <a:latin typeface="DejaVu Sans"/>
                <a:cs typeface="DejaVu Sans"/>
              </a:rPr>
              <a:t>Runway</a:t>
            </a:r>
            <a:r>
              <a:rPr dirty="0" sz="1350" spc="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Gen-2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7645" y="3696522"/>
            <a:ext cx="95011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20">
                <a:solidFill>
                  <a:srgbClr val="1e3a8a"/>
                </a:solidFill>
                <a:latin typeface="DejaVu Sans"/>
                <a:cs typeface="DejaVu Sans"/>
              </a:rPr>
              <a:t>Pika</a:t>
            </a:r>
            <a:r>
              <a:rPr dirty="0" sz="1350" spc="15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Labs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7645" y="4229922"/>
            <a:ext cx="112385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1e3a8a"/>
                </a:solidFill>
                <a:latin typeface="DejaVu Sans"/>
                <a:cs typeface="DejaVu Sans"/>
              </a:rPr>
              <a:t>ElevenLabs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24175" y="5331804"/>
            <a:ext cx="4096051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1e3a8a"/>
                </a:solidFill>
                <a:latin typeface="DejaVu Sans"/>
                <a:cs typeface="DejaVu Sans"/>
              </a:rPr>
              <a:t>Quy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trình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sản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3a8a"/>
                </a:solidFill>
                <a:latin typeface="DejaVu Sans"/>
                <a:cs typeface="DejaVu Sans"/>
              </a:rPr>
              <a:t>xuất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video</a:t>
            </a:r>
            <a:r>
              <a:rPr dirty="0" sz="20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1e3a8a"/>
                </a:solidFill>
                <a:latin typeface="DejaVu Sans"/>
                <a:cs typeface="DejaVu Sans"/>
              </a:rPr>
              <a:t>AI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49089" y="6316651"/>
            <a:ext cx="87987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1e3a8a"/>
                </a:solidFill>
                <a:latin typeface="DejaVu Sans"/>
                <a:cs typeface="DejaVu Sans"/>
              </a:rPr>
              <a:t>Kịch</a:t>
            </a:r>
            <a:r>
              <a:rPr dirty="0" sz="1200" spc="-11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1e3a8a"/>
                </a:solidFill>
                <a:latin typeface="DejaVu Sans"/>
                <a:cs typeface="DejaVu Sans"/>
              </a:rPr>
              <a:t>bản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814637" y="6316651"/>
            <a:ext cx="10958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1e3a8a"/>
                </a:solidFill>
                <a:latin typeface="DejaVu Sans"/>
                <a:cs typeface="DejaVu Sans"/>
              </a:rPr>
              <a:t>Storyboard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70957" y="6316651"/>
            <a:ext cx="132924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1e3a8a"/>
                </a:solidFill>
                <a:latin typeface="DejaVu Sans"/>
                <a:cs typeface="DejaVu Sans"/>
              </a:rPr>
              <a:t>Dựng</a:t>
            </a:r>
            <a:r>
              <a:rPr dirty="0" sz="12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1e3a8a"/>
                </a:solidFill>
                <a:latin typeface="DejaVu Sans"/>
                <a:cs typeface="DejaVu Sans"/>
              </a:rPr>
              <a:t>cảnh</a:t>
            </a:r>
            <a:r>
              <a:rPr dirty="0" sz="1200" spc="-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1e3a8a"/>
                </a:solidFill>
                <a:latin typeface="DejaVu Sans"/>
                <a:cs typeface="DejaVu Sans"/>
              </a:rPr>
              <a:t>3D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13028" y="6316651"/>
            <a:ext cx="99167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1e3a8a"/>
                </a:solidFill>
                <a:latin typeface="DejaVu Sans"/>
                <a:cs typeface="DejaVu Sans"/>
              </a:rPr>
              <a:t>Giọng</a:t>
            </a:r>
            <a:r>
              <a:rPr dirty="0" sz="1200" spc="-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1e3a8a"/>
                </a:solidFill>
                <a:latin typeface="DejaVu Sans"/>
                <a:cs typeface="DejaVu Sans"/>
              </a:rPr>
              <a:t>đọc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58943" y="6316651"/>
            <a:ext cx="10465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1e3a8a"/>
                </a:solidFill>
                <a:latin typeface="DejaVu Sans"/>
                <a:cs typeface="DejaVu Sans"/>
              </a:rPr>
              <a:t>Chỉnh</a:t>
            </a:r>
            <a:r>
              <a:rPr dirty="0" sz="1200" spc="-1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1e3a8a"/>
                </a:solidFill>
                <a:latin typeface="DejaVu Sans"/>
                <a:cs typeface="DejaVu Sans"/>
              </a:rPr>
              <a:t>màu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573642" y="6316651"/>
            <a:ext cx="56392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1e3a8a"/>
                </a:solidFill>
                <a:latin typeface="DejaVu Sans"/>
                <a:cs typeface="DejaVu Sans"/>
              </a:rPr>
              <a:t>Final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0685" y="6886642"/>
            <a:ext cx="231557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Tối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ưu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hóa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08426" y="7496242"/>
            <a:ext cx="267892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Chất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lượng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và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Hiệu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3a8a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94548" y="7869226"/>
            <a:ext cx="522951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Hoàn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1e3a8a"/>
                </a:solidFill>
                <a:latin typeface="DejaVu Sans"/>
                <a:cs typeface="DejaVu Sans"/>
              </a:rPr>
              <a:t>thiện</a:t>
            </a:r>
            <a:r>
              <a:rPr dirty="0" sz="1200" spc="-1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video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quảng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cáo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1e3a8a"/>
                </a:solidFill>
                <a:latin typeface="DejaVu Sans"/>
                <a:cs typeface="DejaVu Sans"/>
              </a:rPr>
              <a:t>30s</a:t>
            </a:r>
            <a:r>
              <a:rPr dirty="0" sz="1200" spc="-40" b="1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với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chất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lượng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hình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ảnh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cao,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nhận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được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phản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hồi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rất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tích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cực,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khẳng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định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tiềm</a:t>
            </a:r>
            <a:r>
              <a:rPr dirty="0" sz="1200" spc="-2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năng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của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công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nghệ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1e3a8a"/>
                </a:solidFill>
                <a:latin typeface="DejaVu Sans"/>
                <a:cs typeface="DejaVu Sans"/>
              </a:rPr>
              <a:t>AI.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6806" y="8478826"/>
            <a:ext cx="4994883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Giảm</a:t>
            </a:r>
            <a:r>
              <a:rPr dirty="0" sz="1200" spc="-18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30–40%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thời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gian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xuất,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đẩy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nhanh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tiến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độ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dự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án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so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với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phương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3a8a"/>
                </a:solidFill>
                <a:latin typeface="DejaVu Sans"/>
                <a:cs typeface="DejaVu Sans"/>
              </a:rPr>
              <a:t>pháp</a:t>
            </a:r>
            <a:r>
              <a:rPr dirty="0" sz="120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e3a8a"/>
                </a:solidFill>
                <a:latin typeface="DejaVu Sans"/>
                <a:cs typeface="DejaVu Sans"/>
              </a:rPr>
              <a:t>truyền</a:t>
            </a:r>
            <a:r>
              <a:rPr dirty="0" sz="1200" spc="-10">
                <a:solidFill>
                  <a:srgbClr val="1e3a8a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e3a8a"/>
                </a:solidFill>
                <a:latin typeface="DejaVu Sans"/>
                <a:cs typeface="DejaVu Sans"/>
              </a:rPr>
              <a:t>thống.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604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931592" y="322631"/>
            <a:ext cx="4481191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Công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1e293b"/>
                </a:solidFill>
                <a:latin typeface="DejaVu Sans"/>
                <a:cs typeface="DejaVu Sans"/>
              </a:rPr>
              <a:t>việc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khác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417536"/>
            <a:ext cx="2235681" cy="669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Nghiên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cứu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dữ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41254" y="1417536"/>
            <a:ext cx="1970055" cy="669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Sáng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tạo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nội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dung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36532" y="1417536"/>
            <a:ext cx="2099440" cy="669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1e293b"/>
                </a:solidFill>
                <a:latin typeface="DejaVu Sans"/>
                <a:cs typeface="DejaVu Sans"/>
              </a:rPr>
              <a:t>Hậu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kỳ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Bàn</a:t>
            </a:r>
          </a:p>
          <a:p>
            <a:pPr marL="0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giao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6984" y="4106604"/>
            <a:ext cx="3216926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Mục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tiêu:</a:t>
            </a:r>
            <a:r>
              <a:rPr dirty="0" sz="1350" spc="-4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lọc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liệu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xác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định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nhân,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tổ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chức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có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tiềm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334155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32262" y="4106604"/>
            <a:ext cx="3073586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Mục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tiêu:</a:t>
            </a:r>
            <a:r>
              <a:rPr dirty="0" sz="1350" spc="-4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Phát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triển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trực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ý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tưởng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dự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án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truyền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dạng.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427540" y="4106604"/>
            <a:ext cx="3269260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Mục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tiêu:</a:t>
            </a:r>
            <a:r>
              <a:rPr dirty="0" sz="1350" spc="-4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Hoàn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thiện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sản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phẩm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đạt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chất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lượng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nhất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trước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khi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phân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phối.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6984" y="5001954"/>
            <a:ext cx="121934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Hoạt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động: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32262" y="5001954"/>
            <a:ext cx="121934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Hoạt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động: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427540" y="5001954"/>
            <a:ext cx="1219350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Hoạt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e293b"/>
                </a:solidFill>
                <a:latin typeface="DejaVu Sans"/>
                <a:cs typeface="DejaVu Sans"/>
              </a:rPr>
              <a:t>động: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984" y="5297229"/>
            <a:ext cx="3090228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Thu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thập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tổng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dữ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liệu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từ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nguồn.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532262" y="5297229"/>
            <a:ext cx="306115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Thiết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kế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storyboard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chi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tiết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nhiều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TVC.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27540" y="5297229"/>
            <a:ext cx="318537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Chỉnh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màu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chuyên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nghiệp,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thêm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hiệu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ứng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chữ.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6984" y="5811579"/>
            <a:ext cx="311329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Áp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dụng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tiêu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chí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lọc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tinh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gọn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danh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sách.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532262" y="5811579"/>
            <a:ext cx="285071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quy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trình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tiền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sản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xuất.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27540" y="5811579"/>
            <a:ext cx="2865492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Tối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ưu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hóa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âm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thanh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cho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trải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nghiệm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hoàn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475569"/>
                </a:solidFill>
                <a:latin typeface="DejaVu Sans"/>
                <a:cs typeface="DejaVu Sans"/>
              </a:rPr>
              <a:t>hảo.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6984" y="6449754"/>
            <a:ext cx="298284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5250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Xác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định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200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khách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hàng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tiềm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năng</a:t>
            </a:r>
            <a:r>
              <a:rPr dirty="0" sz="1350" b="1">
                <a:solidFill>
                  <a:srgbClr val="2563eb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giá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trị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484762" y="6449754"/>
            <a:ext cx="19318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Rút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ngắn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40%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thời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8427540" y="6449754"/>
            <a:ext cx="2936859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5250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Bàn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giao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sản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phẩm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theo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333ea"/>
                </a:solidFill>
                <a:latin typeface="DejaVu Sans"/>
                <a:cs typeface="DejaVu Sans"/>
              </a:rPr>
              <a:t>chuẩn</a:t>
            </a:r>
            <a:r>
              <a:rPr dirty="0" sz="1350" b="1">
                <a:solidFill>
                  <a:srgbClr val="9333e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333ea"/>
                </a:solidFill>
                <a:latin typeface="DejaVu Sans"/>
                <a:cs typeface="DejaVu Sans"/>
              </a:rPr>
              <a:t>quốc</a:t>
            </a:r>
            <a:r>
              <a:rPr dirty="0" sz="1350" b="1">
                <a:solidFill>
                  <a:srgbClr val="9333e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9333ea"/>
                </a:solidFill>
                <a:latin typeface="DejaVu Sans"/>
                <a:cs typeface="DejaVu Sans"/>
              </a:rPr>
              <a:t>tế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43545" y="6471791"/>
            <a:ext cx="8065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1e40af"/>
                </a:solidFill>
                <a:latin typeface="DejaVu Sans"/>
                <a:cs typeface="DejaVu Sans"/>
              </a:rPr>
              <a:t>Kết</a:t>
            </a:r>
            <a:r>
              <a:rPr dirty="0" sz="1200" b="1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1e40af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638823" y="6471791"/>
            <a:ext cx="80654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166534"/>
                </a:solidFill>
                <a:latin typeface="DejaVu Sans"/>
                <a:cs typeface="DejaVu Sans"/>
              </a:rPr>
              <a:t>Kết</a:t>
            </a:r>
            <a:r>
              <a:rPr dirty="0" sz="1200" b="1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166534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534101" y="6471791"/>
            <a:ext cx="8065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6b21a8"/>
                </a:solidFill>
                <a:latin typeface="DejaVu Sans"/>
                <a:cs typeface="DejaVu Sans"/>
              </a:rPr>
              <a:t>Kết</a:t>
            </a:r>
            <a:r>
              <a:rPr dirty="0" sz="1200" b="1">
                <a:solidFill>
                  <a:srgbClr val="6b21a8"/>
                </a:solidFill>
                <a:latin typeface="DejaVu Sans"/>
                <a:cs typeface="DejaVu Sans"/>
              </a:rPr>
              <a:t> </a:t>
            </a:r>
            <a:r>
              <a:rPr dirty="0" sz="1200" spc="-18" b="1">
                <a:solidFill>
                  <a:srgbClr val="6b21a8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32262" y="6706929"/>
            <a:ext cx="301853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gian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chuẩn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16a34a"/>
                </a:solidFill>
                <a:latin typeface="DejaVu Sans"/>
                <a:cs typeface="DejaVu Sans"/>
              </a:rPr>
              <a:t>bị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,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đẩy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nhanh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tiến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532262" y="6964104"/>
            <a:ext cx="456688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34155"/>
                </a:solidFill>
                <a:latin typeface="DejaVu Sans"/>
                <a:cs typeface="DejaVu Sans"/>
              </a:rPr>
              <a:t>độ.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245941" y="7989786"/>
            <a:ext cx="585245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nổi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bật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từ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các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hoạt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động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hỗ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trợ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076455" y="8735000"/>
            <a:ext cx="258696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Khách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hàng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tiềm</a:t>
            </a:r>
            <a:r>
              <a:rPr dirty="0" sz="15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năng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879824" y="8782625"/>
            <a:ext cx="2311214" cy="7260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</a:p>
          <a:p>
            <a:pPr marL="0" marR="0">
              <a:lnSpc>
                <a:spcPts val="3300"/>
              </a:lnSpc>
              <a:spcBef>
                <a:spcPts val="136"/>
              </a:spcBef>
              <a:spcAft>
                <a:spcPts val="0"/>
              </a:spcAft>
            </a:pPr>
            <a:r>
              <a:rPr dirty="0" sz="3000" spc="14" b="1">
                <a:solidFill>
                  <a:srgbClr val="4ade80"/>
                </a:solidFill>
                <a:latin typeface="DejaVu Sans"/>
                <a:cs typeface="DejaVu Sans"/>
              </a:rPr>
              <a:t>Giảm</a:t>
            </a:r>
            <a:r>
              <a:rPr dirty="0" sz="3000" spc="18" b="1">
                <a:solidFill>
                  <a:srgbClr val="4ade8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4ade80"/>
                </a:solidFill>
                <a:latin typeface="DejaVu Sans"/>
                <a:cs typeface="DejaVu Sans"/>
              </a:rPr>
              <a:t>40%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76455" y="8961806"/>
            <a:ext cx="165033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60a5fa"/>
                </a:solidFill>
                <a:latin typeface="DejaVu Sans"/>
                <a:cs typeface="DejaVu Sans"/>
              </a:rPr>
              <a:t>200+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879824" y="9488985"/>
            <a:ext cx="193548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suất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tiền</a:t>
            </a:r>
            <a:r>
              <a:rPr dirty="0" sz="1200" spc="-12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xuất.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076455" y="9536610"/>
            <a:ext cx="21840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ffffff"/>
                </a:solidFill>
                <a:latin typeface="DejaVu Sans"/>
                <a:cs typeface="DejaVu Sans"/>
              </a:rPr>
              <a:t>Mở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rộng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ffffff"/>
                </a:solidFill>
                <a:latin typeface="DejaVu Sans"/>
                <a:cs typeface="DejaVu Sans"/>
              </a:rPr>
              <a:t>cơ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hội</a:t>
            </a:r>
            <a:r>
              <a:rPr dirty="0" sz="120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ffffff"/>
                </a:solidFill>
                <a:latin typeface="DejaVu Sans"/>
                <a:cs typeface="DejaVu Sans"/>
              </a:rPr>
              <a:t>kinh</a:t>
            </a:r>
            <a:r>
              <a:rPr dirty="0" sz="1200" spc="-1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ffffff"/>
                </a:solidFill>
                <a:latin typeface="DejaVu Sans"/>
                <a:cs typeface="DejaVu Sans"/>
              </a:rPr>
              <a:t>doanh.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26396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4559" y="334315"/>
            <a:ext cx="5095154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001f3f"/>
                </a:solidFill>
                <a:latin typeface="DejaVu Sans"/>
                <a:cs typeface="DejaVu Sans"/>
              </a:rPr>
              <a:t>Kết</a:t>
            </a:r>
            <a:r>
              <a:rPr dirty="0" sz="405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1f3f"/>
                </a:solidFill>
                <a:latin typeface="DejaVu Sans"/>
                <a:cs typeface="DejaVu Sans"/>
              </a:rPr>
              <a:t>quả</a:t>
            </a:r>
            <a:r>
              <a:rPr dirty="0" sz="405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1f3f"/>
                </a:solidFill>
                <a:latin typeface="DejaVu Sans"/>
                <a:cs typeface="DejaVu Sans"/>
              </a:rPr>
              <a:t>đạt</a:t>
            </a:r>
            <a:r>
              <a:rPr dirty="0" sz="405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001f3f"/>
                </a:solidFill>
                <a:latin typeface="DejaVu Sans"/>
                <a:cs typeface="DejaVu Sans"/>
              </a:rPr>
              <a:t>được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9201" y="1236545"/>
            <a:ext cx="3486636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001f3f"/>
                </a:solidFill>
                <a:latin typeface="DejaVu Sans"/>
                <a:cs typeface="DejaVu Sans"/>
              </a:rPr>
              <a:t>Thành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01f3f"/>
                </a:solidFill>
                <a:latin typeface="DejaVu Sans"/>
                <a:cs typeface="DejaVu Sans"/>
              </a:rPr>
              <a:t>Tựu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01f3f"/>
                </a:solidFill>
                <a:latin typeface="DejaVu Sans"/>
                <a:cs typeface="DejaVu Sans"/>
              </a:rPr>
              <a:t>Nổi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01f3f"/>
                </a:solidFill>
                <a:latin typeface="DejaVu Sans"/>
                <a:cs typeface="DejaVu Sans"/>
              </a:rPr>
              <a:t>Bật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1556" y="1407995"/>
            <a:ext cx="3608774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4" b="1">
                <a:solidFill>
                  <a:srgbClr val="001f3f"/>
                </a:solidFill>
                <a:latin typeface="DejaVu Sans"/>
                <a:cs typeface="DejaVu Sans"/>
              </a:rPr>
              <a:t>Kỹ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14" b="1">
                <a:solidFill>
                  <a:srgbClr val="001f3f"/>
                </a:solidFill>
                <a:latin typeface="DejaVu Sans"/>
                <a:cs typeface="DejaVu Sans"/>
              </a:rPr>
              <a:t>Năng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001f3f"/>
                </a:solidFill>
                <a:latin typeface="DejaVu Sans"/>
                <a:cs typeface="DejaVu Sans"/>
              </a:rPr>
              <a:t>Phát</a:t>
            </a:r>
            <a:r>
              <a:rPr dirty="0" sz="2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500" spc="-46" b="1">
                <a:solidFill>
                  <a:srgbClr val="001f3f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1556" y="1981670"/>
            <a:ext cx="204380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Chuyên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spc="12" b="1">
                <a:solidFill>
                  <a:srgbClr val="001f3f"/>
                </a:solidFill>
                <a:latin typeface="DejaVu Sans"/>
                <a:cs typeface="DejaVu Sans"/>
              </a:rPr>
              <a:t>môn: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929758" y="2067395"/>
            <a:ext cx="299776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2" b="1">
                <a:solidFill>
                  <a:srgbClr val="001f3f"/>
                </a:solidFill>
                <a:latin typeface="DejaVu Sans"/>
                <a:cs typeface="DejaVu Sans"/>
              </a:rPr>
              <a:t>Dự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án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AI-Generated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8149" y="2460183"/>
            <a:ext cx="4253450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Lập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trình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tự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động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hóa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(Google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Apps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Script):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Nắm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vững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lập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trên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Google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Apps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Script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tác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vụ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lặp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lặp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lại.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8149" y="3784158"/>
            <a:ext cx="4278201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Ứng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dụng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AI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trong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truyền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thông: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Hiểu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biết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sâu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sắc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khả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năng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vận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dụng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AI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dung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video,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hình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ảnh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chất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lượng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929758" y="4298508"/>
            <a:ext cx="570617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Hoàn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thiện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dự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án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quảng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cáo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100%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AI-generated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,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ra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29758" y="4593783"/>
            <a:ext cx="518610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phẩm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chất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lượng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cao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nhận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tích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cực.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08149" y="5108133"/>
            <a:ext cx="4139084" cy="8521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Quay</a:t>
            </a:r>
            <a:r>
              <a:rPr dirty="0" sz="1500" spc="18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dựng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hậu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kỳ: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hành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thành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thạo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kỹ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thuật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quay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dựng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quy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trình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hậu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kỳ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chuyên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nghiệp.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29758" y="5391620"/>
            <a:ext cx="3959075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Công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cụ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Email</a:t>
            </a:r>
            <a:r>
              <a:rPr dirty="0" sz="20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DejaVu Sans"/>
                <a:cs typeface="DejaVu Sans"/>
              </a:rPr>
              <a:t>Automation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51556" y="6248870"/>
            <a:ext cx="94999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4" b="1">
                <a:solidFill>
                  <a:srgbClr val="001f3f"/>
                </a:solidFill>
                <a:latin typeface="DejaVu Sans"/>
                <a:cs typeface="DejaVu Sans"/>
              </a:rPr>
              <a:t>Mềm: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08149" y="6727383"/>
            <a:ext cx="439335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15" b="1">
                <a:solidFill>
                  <a:srgbClr val="001f3f"/>
                </a:solidFill>
                <a:latin typeface="DejaVu Sans"/>
                <a:cs typeface="DejaVu Sans"/>
              </a:rPr>
              <a:t>Teamwork:</a:t>
            </a:r>
            <a:r>
              <a:rPr dirty="0" sz="1500" spc="-2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quả,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huy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sức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08149" y="7022658"/>
            <a:ext cx="151339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mạnh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tập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thể.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08149" y="7451283"/>
            <a:ext cx="406587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Giao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tiếp: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Cải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thiện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khả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năng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bày,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929758" y="7622733"/>
            <a:ext cx="571812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Phát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triển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cụ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hóa,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đạt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98%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tỉ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lệ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08149" y="7756083"/>
            <a:ext cx="236205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lắng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nghe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hồi.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29758" y="7918008"/>
            <a:ext cx="507413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gửi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thành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công</a:t>
            </a:r>
            <a:r>
              <a:rPr dirty="0" sz="1500" spc="-4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giảm</a:t>
            </a:r>
            <a:r>
              <a:rPr dirty="0" sz="1500" spc="1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60%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4169e1"/>
                </a:solidFill>
                <a:latin typeface="DejaVu Sans"/>
                <a:cs typeface="DejaVu Sans"/>
              </a:rPr>
              <a:t>gian</a:t>
            </a:r>
            <a:r>
              <a:rPr dirty="0" sz="1500" spc="-40" b="1">
                <a:solidFill>
                  <a:srgbClr val="4169e1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thao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tác.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08149" y="8175183"/>
            <a:ext cx="4243001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Quản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lý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thời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gian: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Hoàn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thành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việc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08149" y="8479983"/>
            <a:ext cx="311979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đúng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hạn,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tối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ưu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lịch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trình.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908149" y="8899083"/>
            <a:ext cx="4359147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Tiếp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nhận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001f3f"/>
                </a:solidFill>
                <a:latin typeface="DejaVu Sans"/>
                <a:cs typeface="DejaVu Sans"/>
              </a:rPr>
              <a:t>feedback:</a:t>
            </a:r>
            <a:r>
              <a:rPr dirty="0" sz="1500" spc="-43" b="1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Chủ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lắng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nghe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908149" y="9203883"/>
            <a:ext cx="3341122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tiếp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thu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phản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hồi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cải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001f3f"/>
                </a:solidFill>
                <a:latin typeface="DejaVu Sans"/>
                <a:cs typeface="DejaVu Sans"/>
              </a:rPr>
              <a:t>thiện.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271539" y="10173170"/>
            <a:ext cx="580121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Tổng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hợp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hiệu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quả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tối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ưu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hóa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DejaVu Sans"/>
                <a:cs typeface="DejaVu Sans"/>
              </a:rPr>
              <a:t>quy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977032" y="10689029"/>
            <a:ext cx="297516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Giảm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thời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gian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thao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ffffff"/>
                </a:solidFill>
                <a:latin typeface="DejaVu Sans"/>
                <a:cs typeface="DejaVu Sans"/>
              </a:rPr>
              <a:t>tác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166668" y="10689029"/>
            <a:ext cx="3513851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Rút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ffffff"/>
                </a:solidFill>
                <a:latin typeface="DejaVu Sans"/>
                <a:cs typeface="DejaVu Sans"/>
              </a:rPr>
              <a:t>ngắn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chu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trình</a:t>
            </a:r>
            <a:r>
              <a:rPr dirty="0" sz="1700" spc="-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ffffff"/>
                </a:solidFill>
                <a:latin typeface="DejaVu Sans"/>
                <a:cs typeface="DejaVu Sans"/>
              </a:rPr>
              <a:t>sản</a:t>
            </a:r>
            <a:r>
              <a:rPr dirty="0" sz="17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ffffff"/>
                </a:solidFill>
                <a:latin typeface="DejaVu Sans"/>
                <a:cs typeface="DejaVu Sans"/>
              </a:rPr>
              <a:t>xuất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490465" y="11159242"/>
            <a:ext cx="1071639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ffff"/>
                </a:solidFill>
                <a:latin typeface="DejaVu Sans"/>
                <a:cs typeface="DejaVu Sans"/>
              </a:rPr>
              <a:t>60%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602562" y="11159242"/>
            <a:ext cx="176547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ffffff"/>
                </a:solidFill>
                <a:latin typeface="DejaVu Sans"/>
                <a:cs typeface="DejaVu Sans"/>
              </a:rPr>
              <a:t>30-40%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750641" y="11633513"/>
            <a:ext cx="255114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>
                <a:solidFill>
                  <a:srgbClr val="ffffff"/>
                </a:solidFill>
                <a:latin typeface="DejaVu Sans"/>
                <a:cs typeface="DejaVu Sans"/>
              </a:rPr>
              <a:t>Tiết</a:t>
            </a:r>
            <a:r>
              <a:rPr dirty="0" sz="1350" spc="1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kiệm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đáng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kể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công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sức.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253858" y="11633513"/>
            <a:ext cx="246262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Nâng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tốc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triển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ffffff"/>
                </a:solidFill>
                <a:latin typeface="DejaVu Sans"/>
                <a:cs typeface="DejaVu Sans"/>
              </a:rPr>
              <a:t>khai.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11506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436292" y="334891"/>
            <a:ext cx="5471633" cy="610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1" b="1">
                <a:solidFill>
                  <a:srgbClr val="001f3f"/>
                </a:solidFill>
                <a:latin typeface="Liberation Sans"/>
                <a:cs typeface="Liberation Sans"/>
              </a:rPr>
              <a:t>Khó</a:t>
            </a:r>
            <a:r>
              <a:rPr dirty="0" sz="405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001f3f"/>
                </a:solidFill>
                <a:latin typeface="Liberation Sans"/>
                <a:cs typeface="Liberation Sans"/>
              </a:rPr>
              <a:t>khăn</a:t>
            </a:r>
            <a:r>
              <a:rPr dirty="0" sz="405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4050" b="1">
                <a:solidFill>
                  <a:srgbClr val="001f3f"/>
                </a:solidFill>
                <a:latin typeface="Liberation Sans"/>
                <a:cs typeface="Liberation Sans"/>
              </a:rPr>
              <a:t>&amp;</a:t>
            </a:r>
            <a:r>
              <a:rPr dirty="0" sz="4050" spc="-18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001f3f"/>
                </a:solidFill>
                <a:latin typeface="Liberation Sans"/>
                <a:cs typeface="Liberation Sans"/>
              </a:rPr>
              <a:t>Giải</a:t>
            </a:r>
            <a:r>
              <a:rPr dirty="0" sz="405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4050" spc="-10" b="1">
                <a:solidFill>
                  <a:srgbClr val="001f3f"/>
                </a:solidFill>
                <a:latin typeface="Liberation Sans"/>
                <a:cs typeface="Liberation Sans"/>
              </a:rPr>
              <a:t>pháp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6249" y="1146986"/>
            <a:ext cx="3760377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Thách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thức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đã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gặp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phải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1983" y="1146986"/>
            <a:ext cx="5228861" cy="3955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Chiến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lược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1" b="1">
                <a:solidFill>
                  <a:srgbClr val="001f3f"/>
                </a:solidFill>
                <a:latin typeface="Liberation Sans"/>
                <a:cs typeface="Liberation Sans"/>
              </a:rPr>
              <a:t>vượt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khó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&amp;</a:t>
            </a:r>
            <a:r>
              <a:rPr dirty="0" sz="2500" spc="18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spc="10" b="1">
                <a:solidFill>
                  <a:srgbClr val="001f3f"/>
                </a:solidFill>
                <a:latin typeface="Liberation Sans"/>
                <a:cs typeface="Liberation Sans"/>
              </a:rPr>
              <a:t>Phát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500" b="1">
                <a:solidFill>
                  <a:srgbClr val="001f3f"/>
                </a:solidFill>
                <a:latin typeface="Liberation Sans"/>
                <a:cs typeface="Liberation Sans"/>
              </a:rPr>
              <a:t>triển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85242" y="1709670"/>
            <a:ext cx="4945883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Deadline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gấp,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nhiều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công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việc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cùng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lúc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60975" y="1709670"/>
            <a:ext cx="4887886" cy="324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Chủ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động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tìm</a:t>
            </a:r>
            <a:r>
              <a:rPr dirty="0" sz="2000" spc="12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hiểu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công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cụ,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test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nhanh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85242" y="2110514"/>
            <a:ext cx="4870849" cy="11479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Áp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từ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dự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án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có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thời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hạn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chặt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chẽ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hỏi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khả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quản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thời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gian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hiệu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quả.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Việc</a:t>
            </a:r>
            <a:r>
              <a:rPr dirty="0" sz="1500" spc="12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phải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xử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nhiều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nhiệm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vụ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song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song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từ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lập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trình,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quay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dựng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đến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hậu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kỳ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tạo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gánh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nặng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lớn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về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khối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lượng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việc.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60975" y="2110514"/>
            <a:ext cx="4998709" cy="14527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Tích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nghiên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cứu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học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hỏi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nền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tảng,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cụ</a:t>
            </a:r>
            <a:r>
              <a:rPr dirty="0" sz="1500" spc="-8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AI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mới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tài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liệu,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video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hướng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dẫn.</a:t>
            </a:r>
            <a:r>
              <a:rPr dirty="0" sz="1500" spc="-27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hiện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thử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nghiệm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nhanh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(quick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tests)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với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tính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để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nắm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bắt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vận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hành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tiềm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năng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ứng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dụng,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giúp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rút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ngắn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thời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gian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quen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85242" y="3462270"/>
            <a:ext cx="4530411" cy="657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AI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còn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mới,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kinh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nghiệm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quay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dựng</a:t>
            </a:r>
          </a:p>
          <a:p>
            <a:pPr marL="0" marR="0">
              <a:lnSpc>
                <a:spcPts val="2252"/>
              </a:lnSpc>
              <a:spcBef>
                <a:spcPts val="322"/>
              </a:spcBef>
              <a:spcAft>
                <a:spcPts val="0"/>
              </a:spcAft>
            </a:pP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hạn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chế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60975" y="3757545"/>
            <a:ext cx="4800392" cy="6670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Phối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hợp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nhóm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chặt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chẽ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&amp;</a:t>
            </a:r>
            <a:r>
              <a:rPr dirty="0" sz="2000" spc="15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Tối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ưu</a:t>
            </a: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001f3f"/>
                </a:solidFill>
                <a:latin typeface="Liberation Sans"/>
                <a:cs typeface="Liberation Sans"/>
              </a:rPr>
              <a:t>quy</a:t>
            </a:r>
          </a:p>
          <a:p>
            <a:pPr marL="0" marR="0">
              <a:lnSpc>
                <a:spcPts val="2252"/>
              </a:lnSpc>
              <a:spcBef>
                <a:spcPts val="447"/>
              </a:spcBef>
              <a:spcAft>
                <a:spcPts val="0"/>
              </a:spcAft>
            </a:pPr>
            <a:r>
              <a:rPr dirty="0" sz="2000" b="1">
                <a:solidFill>
                  <a:srgbClr val="001f3f"/>
                </a:solidFill>
                <a:latin typeface="Liberation Sans"/>
                <a:cs typeface="Liberation Sans"/>
              </a:rPr>
              <a:t>trình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85242" y="4206014"/>
            <a:ext cx="4966657" cy="14432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Lần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đầu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tiên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tiếp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cận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việc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với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cụ</a:t>
            </a:r>
            <a:r>
              <a:rPr dirty="0" sz="1500" spc="-8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AI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lĩnh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sản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xuất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video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đòi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hỏi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quá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học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hỏi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nhanh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chóng.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Bên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cạnh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đó,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kinh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nghiệm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tế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về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quay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dựng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hậu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kỳ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vẫn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còn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giới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hạn,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gây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ra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những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thách</a:t>
            </a:r>
          </a:p>
          <a:p>
            <a:pPr marL="0" marR="0">
              <a:lnSpc>
                <a:spcPts val="1689"/>
              </a:lnSpc>
              <a:spcBef>
                <a:spcPts val="68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thức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việc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áp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dụng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lý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thuyết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vào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thực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tiễn.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60975" y="4501289"/>
            <a:ext cx="4912090" cy="144325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Tăng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cường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giao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tiếp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hợp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với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đồng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nghiệp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để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chia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sẻ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kiến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thức,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kinh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nghiệm.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Hỗ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trợ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lẫn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nhau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trong</a:t>
            </a:r>
          </a:p>
          <a:p>
            <a:pPr marL="0" marR="0">
              <a:lnSpc>
                <a:spcPts val="1689"/>
              </a:lnSpc>
              <a:spcBef>
                <a:spcPts val="710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nhiệm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vụ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khó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khăn.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Duy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trì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thói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quen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ghi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chú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tiết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thường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xuyên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đánh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giá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để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tinh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chỉnh,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tối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ưu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các</a:t>
            </a:r>
          </a:p>
          <a:p>
            <a:pPr marL="0" marR="0">
              <a:lnSpc>
                <a:spcPts val="1689"/>
              </a:lnSpc>
              <a:spcBef>
                <a:spcPts val="685"/>
              </a:spcBef>
              <a:spcAft>
                <a:spcPts val="0"/>
              </a:spcAft>
            </a:pP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bước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quy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001f3f"/>
                </a:solidFill>
                <a:latin typeface="Liberation Sans"/>
                <a:cs typeface="Liberation Sans"/>
              </a:rPr>
              <a:t>việc.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4427" y="9596370"/>
            <a:ext cx="5310113" cy="32413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Thích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nghi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Đổi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mới: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Động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lực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Liberation Sans"/>
                <a:cs typeface="Liberation Sans"/>
              </a:rPr>
              <a:t>vượt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2000" b="1">
                <a:solidFill>
                  <a:srgbClr val="ffffff"/>
                </a:solidFill>
                <a:latin typeface="Liberation Sans"/>
                <a:cs typeface="Liberation Sans"/>
              </a:rPr>
              <a:t>khó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74427" y="9997214"/>
            <a:ext cx="9972694" cy="5479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Việc</a:t>
            </a:r>
            <a:r>
              <a:rPr dirty="0" sz="1500" spc="12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chủ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động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tìm</a:t>
            </a:r>
            <a:r>
              <a:rPr dirty="0" sz="1500" spc="1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hiểu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thích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nghi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với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công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cụ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mới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là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yếu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tố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then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chốt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để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vượt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qua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rào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cản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và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tối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ưu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hóa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quy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trình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làm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việc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trong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sản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xuất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video.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(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Nguồn: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MDPI</a:t>
            </a:r>
            <a:r>
              <a:rPr dirty="0" sz="1500">
                <a:solidFill>
                  <a:srgbClr val="ffffff"/>
                </a:solidFill>
                <a:latin typeface="Liberation Sans"/>
                <a:cs typeface="Liberation Sans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6572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78199" y="333300"/>
            <a:ext cx="6387837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Bài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học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&amp;</a:t>
            </a:r>
            <a:r>
              <a:rPr dirty="0" sz="4050" spc="-23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1e293b"/>
                </a:solidFill>
                <a:latin typeface="DejaVu Sans"/>
                <a:cs typeface="DejaVu Sans"/>
              </a:rPr>
              <a:t>Định</a:t>
            </a:r>
            <a:r>
              <a:rPr dirty="0" sz="405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1e293b"/>
                </a:solidFill>
                <a:latin typeface="DejaVu Sans"/>
                <a:cs typeface="DejaVu Sans"/>
              </a:rPr>
              <a:t>hướng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99" y="1235529"/>
            <a:ext cx="4780045" cy="410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Bài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học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1e293b"/>
                </a:solidFill>
                <a:latin typeface="DejaVu Sans"/>
                <a:cs typeface="DejaVu Sans"/>
              </a:rPr>
              <a:t>rút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ra</a:t>
            </a:r>
            <a:r>
              <a:rPr dirty="0" sz="2500" spc="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từ</a:t>
            </a:r>
            <a:r>
              <a:rPr dirty="0" sz="2500" spc="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Thực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0" b="1">
                <a:solidFill>
                  <a:srgbClr val="1e293b"/>
                </a:solidFill>
                <a:latin typeface="DejaVu Sans"/>
                <a:cs typeface="DejaVu Sans"/>
              </a:rPr>
              <a:t>tập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59487" y="1235529"/>
            <a:ext cx="4429604" cy="7915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932"/>
              </a:lnSpc>
              <a:spcBef>
                <a:spcPts val="0"/>
              </a:spcBef>
              <a:spcAft>
                <a:spcPts val="0"/>
              </a:spcAft>
            </a:pPr>
            <a:r>
              <a:rPr dirty="0" sz="2500" spc="11" b="1">
                <a:solidFill>
                  <a:srgbClr val="1e293b"/>
                </a:solidFill>
                <a:latin typeface="DejaVu Sans"/>
                <a:cs typeface="DejaVu Sans"/>
              </a:rPr>
              <a:t>Định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2" b="1">
                <a:solidFill>
                  <a:srgbClr val="1e293b"/>
                </a:solidFill>
                <a:latin typeface="DejaVu Sans"/>
                <a:cs typeface="DejaVu Sans"/>
              </a:rPr>
              <a:t>hướng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1" b="1">
                <a:solidFill>
                  <a:srgbClr val="1e293b"/>
                </a:solidFill>
                <a:latin typeface="DejaVu Sans"/>
                <a:cs typeface="DejaVu Sans"/>
              </a:rPr>
              <a:t>và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spc="15" b="1">
                <a:solidFill>
                  <a:srgbClr val="1e293b"/>
                </a:solidFill>
                <a:latin typeface="DejaVu Sans"/>
                <a:cs typeface="DejaVu Sans"/>
              </a:rPr>
              <a:t>Mục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tiêu</a:t>
            </a:r>
          </a:p>
          <a:p>
            <a:pPr marL="0" marR="0">
              <a:lnSpc>
                <a:spcPts val="2932"/>
              </a:lnSpc>
              <a:spcBef>
                <a:spcPts val="67"/>
              </a:spcBef>
              <a:spcAft>
                <a:spcPts val="0"/>
              </a:spcAft>
            </a:pPr>
            <a:r>
              <a:rPr dirty="0" sz="2500" spc="11" b="1">
                <a:solidFill>
                  <a:srgbClr val="1e293b"/>
                </a:solidFill>
                <a:latin typeface="DejaVu Sans"/>
                <a:cs typeface="DejaVu Sans"/>
              </a:rPr>
              <a:t>tương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500" b="1">
                <a:solidFill>
                  <a:srgbClr val="1e293b"/>
                </a:solidFill>
                <a:latin typeface="DejaVu Sans"/>
                <a:cs typeface="DejaVu Sans"/>
              </a:rPr>
              <a:t>lai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03113" y="2066379"/>
            <a:ext cx="4706529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Kết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hợp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Công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nghệ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và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Sáng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tạo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03113" y="2459168"/>
            <a:ext cx="5279196" cy="11569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46">
                <a:solidFill>
                  <a:srgbClr val="334155"/>
                </a:solidFill>
                <a:latin typeface="DejaVu Sans"/>
                <a:cs typeface="DejaVu Sans"/>
              </a:rPr>
              <a:t>Trong</a:t>
            </a:r>
            <a:r>
              <a:rPr dirty="0" sz="1500" spc="56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môi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trường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tế,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nắm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vững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các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cụ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nghệ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mới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như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AI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chỉ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giúp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tối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ưu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quy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34155"/>
                </a:solidFill>
                <a:latin typeface="DejaVu Sans"/>
                <a:cs typeface="DejaVu Sans"/>
              </a:rPr>
              <a:t>mà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còn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34155"/>
                </a:solidFill>
                <a:latin typeface="DejaVu Sans"/>
                <a:cs typeface="DejaVu Sans"/>
              </a:rPr>
              <a:t>mở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không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gian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vô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tận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cho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sáng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tạo.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03113" y="3735518"/>
            <a:ext cx="5211425" cy="8617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Từ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tự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động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hóa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vụ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đến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tạo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ra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nội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dung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hoàn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toàn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mới,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nghệ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chất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xúc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tác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mạnh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 spc="10">
                <a:solidFill>
                  <a:srgbClr val="334155"/>
                </a:solidFill>
                <a:latin typeface="DejaVu Sans"/>
                <a:cs typeface="DejaVu Sans"/>
              </a:rPr>
              <a:t>mẽ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những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ý</a:t>
            </a:r>
            <a:r>
              <a:rPr dirty="0" sz="1500" spc="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tưởng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đột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phá.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11044" y="4239588"/>
            <a:ext cx="4447256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Tiếp</a:t>
            </a: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tục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phát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triển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trong</a:t>
            </a: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1e293b"/>
                </a:solidFill>
                <a:latin typeface="DejaVu Sans"/>
                <a:cs typeface="DejaVu Sans"/>
              </a:rPr>
              <a:t>mảng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AI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+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411044" y="4544388"/>
            <a:ext cx="1746047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41" b="1">
                <a:solidFill>
                  <a:srgbClr val="1e293b"/>
                </a:solidFill>
                <a:latin typeface="DejaVu Sans"/>
                <a:cs typeface="DejaVu Sans"/>
              </a:rPr>
              <a:t>Truyền</a:t>
            </a:r>
            <a:r>
              <a:rPr dirty="0" sz="1700" spc="2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1e293b"/>
                </a:solidFill>
                <a:latin typeface="DejaVu Sans"/>
                <a:cs typeface="DejaVu Sans"/>
              </a:rPr>
              <a:t>thông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411044" y="4879273"/>
            <a:ext cx="4523593" cy="10083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Ngành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truyền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thông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đang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trải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qua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cuộc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cách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mạnh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mẽ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nhờ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AI.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spc="-61">
                <a:solidFill>
                  <a:srgbClr val="334155"/>
                </a:solidFill>
                <a:latin typeface="DejaVu Sans"/>
                <a:cs typeface="DejaVu Sans"/>
              </a:rPr>
              <a:t>Tôi</a:t>
            </a:r>
            <a:r>
              <a:rPr dirty="0" sz="1350" spc="56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nhận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thấy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tiềm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to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lớn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 spc="-10">
                <a:solidFill>
                  <a:srgbClr val="334155"/>
                </a:solidFill>
                <a:latin typeface="DejaVu Sans"/>
                <a:cs typeface="DejaVu Sans"/>
              </a:rPr>
              <a:t>trong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việc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tích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hợp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sâu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hơn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trí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tuệ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nhân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mọi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khía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cạnh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sản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xuất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phân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phối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nội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dung.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03113" y="5219155"/>
            <a:ext cx="4521413" cy="6790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1" b="1">
                <a:solidFill>
                  <a:srgbClr val="1e293b"/>
                </a:solidFill>
                <a:latin typeface="DejaVu Sans"/>
                <a:cs typeface="DejaVu Sans"/>
              </a:rPr>
              <a:t>Quy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trình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Chuyên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nghiệp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&amp;</a:t>
            </a:r>
            <a:r>
              <a:rPr dirty="0" sz="2000" spc="18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1e293b"/>
                </a:solidFill>
                <a:latin typeface="DejaVu Sans"/>
                <a:cs typeface="DejaVu Sans"/>
              </a:rPr>
              <a:t>Kỹ</a:t>
            </a:r>
          </a:p>
          <a:p>
            <a:pPr marL="0" marR="0">
              <a:lnSpc>
                <a:spcPts val="2346"/>
              </a:lnSpc>
              <a:spcBef>
                <a:spcPts val="353"/>
              </a:spcBef>
              <a:spcAft>
                <a:spcPts val="0"/>
              </a:spcAft>
            </a:pP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năng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Thiết</a:t>
            </a:r>
            <a:r>
              <a:rPr dirty="0" sz="2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1e293b"/>
                </a:solidFill>
                <a:latin typeface="DejaVu Sans"/>
                <a:cs typeface="DejaVu Sans"/>
              </a:rPr>
              <a:t>yếu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3113" y="5954843"/>
            <a:ext cx="5168301" cy="11569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Quá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thực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tập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đã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mang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lại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cái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nhìn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sâu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sắc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về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toàn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bộ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trình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sản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xuất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truyền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thông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chuyên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nghiệp.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Điều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này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đòi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hỏi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sự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phối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hợp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nhịp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nhàng,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kỷ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luật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nghiêm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ngặt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trong</a:t>
            </a:r>
            <a:r>
              <a:rPr dirty="0" sz="1500" spc="12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từng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bước.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411044" y="6077913"/>
            <a:ext cx="3901768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69" b="1">
                <a:solidFill>
                  <a:srgbClr val="1e293b"/>
                </a:solidFill>
                <a:latin typeface="DejaVu Sans"/>
                <a:cs typeface="DejaVu Sans"/>
              </a:rPr>
              <a:t>Trở</a:t>
            </a:r>
            <a:r>
              <a:rPr dirty="0" sz="1700" spc="47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1e293b"/>
                </a:solidFill>
                <a:latin typeface="DejaVu Sans"/>
                <a:cs typeface="DejaVu Sans"/>
              </a:rPr>
              <a:t>thành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Kỹ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sư</a:t>
            </a: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phần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1e293b"/>
                </a:solidFill>
                <a:latin typeface="DejaVu Sans"/>
                <a:cs typeface="DejaVu Sans"/>
              </a:rPr>
              <a:t>mềm</a:t>
            </a: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ứng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dụng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1e293b"/>
                </a:solidFill>
                <a:latin typeface="DejaVu Sans"/>
                <a:cs typeface="DejaVu Sans"/>
              </a:rPr>
              <a:t>công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nghệ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1e293b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411044" y="6717597"/>
            <a:ext cx="4439356" cy="1255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Mục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tiêu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của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tôi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trở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thành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một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kỹ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sư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phần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mềm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có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khả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năng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phát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triển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triển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khai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giải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pháp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công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nghệ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tiên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tiến,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đặc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biệt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là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AI,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để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giải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quyết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các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thách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thức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tạo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ra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giá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trị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đột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phá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34155"/>
                </a:solidFill>
                <a:latin typeface="DejaVu Sans"/>
                <a:cs typeface="DejaVu Sans"/>
              </a:rPr>
              <a:t>trong</a:t>
            </a:r>
          </a:p>
          <a:p>
            <a:pPr marL="0" marR="0">
              <a:lnSpc>
                <a:spcPts val="1564"/>
              </a:lnSpc>
              <a:spcBef>
                <a:spcPts val="385"/>
              </a:spcBef>
              <a:spcAft>
                <a:spcPts val="0"/>
              </a:spcAft>
            </a:pP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ngành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truyền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34155"/>
                </a:solidFill>
                <a:latin typeface="DejaVu Sans"/>
                <a:cs typeface="DejaVu Sans"/>
              </a:rPr>
              <a:t>thông.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03113" y="7240718"/>
            <a:ext cx="5191636" cy="85217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Việc</a:t>
            </a:r>
            <a:r>
              <a:rPr dirty="0" sz="1500" spc="15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quản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lý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dữ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liệu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hiệu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quả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làm</a:t>
            </a:r>
            <a:r>
              <a:rPr dirty="0" sz="1500" spc="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việc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nhóm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chặt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chẽ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là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yếu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tố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then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chốt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để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đảm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bảo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chất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lượng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và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tiến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độ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dự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500">
                <a:solidFill>
                  <a:srgbClr val="334155"/>
                </a:solidFill>
                <a:latin typeface="DejaVu Sans"/>
                <a:cs typeface="DejaVu Sans"/>
              </a:rPr>
              <a:t>án.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72857" y="8405031"/>
            <a:ext cx="5500954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Nguồn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ảnh: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Video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Generation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AI: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Exploring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OpenAI's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Groundbreaking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Sora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Model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64748b"/>
                </a:solidFill>
                <a:latin typeface="DejaVu Sans"/>
                <a:cs typeface="DejaVu Sans"/>
              </a:rPr>
              <a:t>...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2025-08-17T13:32:47+00:00</dcterms:modified>
</cp:coreProperties>
</file>